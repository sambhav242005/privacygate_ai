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a0542887f2d4ec7" /><Relationship Type="http://schemas.openxmlformats.org/officeDocument/2006/relationships/extended-properties" Target="/docProps/app.xml" Id="Rbd37168e10dc475d" /><Relationship Type="http://schemas.openxmlformats.org/officeDocument/2006/relationships/officeDocument" Target="/ppt/presentation.xml" Id="Rb32091e5179146be" /></Relationships>
</file>

<file path=ppt/presentation.xml><?xml version="1.0" encoding="utf-8"?>
<p:presentation xmlns:p="http://schemas.openxmlformats.org/presentationml/2006/main">
  <p:sldMasterIdLst>
    <p:sldMasterId xmlns:r="http://schemas.openxmlformats.org/officeDocument/2006/relationships" id="2147483648" r:id="Ra95fb716b3294b93"/>
  </p:sldMasterIdLst>
  <p:notesMasterIdLst>
    <p:notesMasterId xmlns:r="http://schemas.openxmlformats.org/officeDocument/2006/relationships" r:id="Rb8fa184320944d3b"/>
  </p:notesMasterIdLst>
  <p:sldIdLst>
    <p:sldId xmlns:r="http://schemas.openxmlformats.org/officeDocument/2006/relationships" id="256" r:id="R1ff326817c8b472a"/>
    <p:sldId xmlns:r="http://schemas.openxmlformats.org/officeDocument/2006/relationships" id="257" r:id="R85cf4cf7cc504de1"/>
    <p:sldId xmlns:r="http://schemas.openxmlformats.org/officeDocument/2006/relationships" id="258" r:id="Rb62cc0f7a2c54c36"/>
    <p:sldId xmlns:r="http://schemas.openxmlformats.org/officeDocument/2006/relationships" id="259" r:id="Rb2c6b71d97a44ebb"/>
    <p:sldId xmlns:r="http://schemas.openxmlformats.org/officeDocument/2006/relationships" id="260" r:id="R1fa21f2088b44acc"/>
    <p:sldId xmlns:r="http://schemas.openxmlformats.org/officeDocument/2006/relationships" id="261" r:id="R6be6061ce4d245dd"/>
    <p:sldId xmlns:r="http://schemas.openxmlformats.org/officeDocument/2006/relationships" id="262" r:id="R6b7d5d90077c4971"/>
    <p:sldId xmlns:r="http://schemas.openxmlformats.org/officeDocument/2006/relationships" id="263" r:id="R323530df11914fd9"/>
    <p:sldId xmlns:r="http://schemas.openxmlformats.org/officeDocument/2006/relationships" id="264" r:id="R8e06b7c5717c40f8"/>
    <p:sldId xmlns:r="http://schemas.openxmlformats.org/officeDocument/2006/relationships" id="265" r:id="R5164ba36ed144c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812ba701df4721" /><Relationship Type="http://schemas.openxmlformats.org/officeDocument/2006/relationships/slideMaster" Target="/ppt/slideMasters/slideMaster1.xml" Id="Ra95fb716b3294b93" /><Relationship Type="http://schemas.openxmlformats.org/officeDocument/2006/relationships/notesMaster" Target="/ppt/notesMasters/notesMaster1.xml" Id="Rb8fa184320944d3b" /><Relationship Type="http://schemas.openxmlformats.org/officeDocument/2006/relationships/presProps" Target="/ppt/presProps.xml" Id="Raa0e5a1bce6a4dd3" /><Relationship Type="http://schemas.openxmlformats.org/officeDocument/2006/relationships/tableStyles" Target="/ppt/tableStyles.xml" Id="Rc45634272ea64d7d" /><Relationship Type="http://schemas.openxmlformats.org/officeDocument/2006/relationships/slide" Target="/ppt/slides/slide1.xml" Id="R1ff326817c8b472a" /><Relationship Type="http://schemas.openxmlformats.org/officeDocument/2006/relationships/slide" Target="/ppt/slides/slide2.xml" Id="R85cf4cf7cc504de1" /><Relationship Type="http://schemas.openxmlformats.org/officeDocument/2006/relationships/slide" Target="/ppt/slides/slide3.xml" Id="Rb62cc0f7a2c54c36" /><Relationship Type="http://schemas.openxmlformats.org/officeDocument/2006/relationships/slide" Target="/ppt/slides/slide4.xml" Id="Rb2c6b71d97a44ebb" /><Relationship Type="http://schemas.openxmlformats.org/officeDocument/2006/relationships/slide" Target="/ppt/slides/slide5.xml" Id="R1fa21f2088b44acc" /><Relationship Type="http://schemas.openxmlformats.org/officeDocument/2006/relationships/slide" Target="/ppt/slides/slide6.xml" Id="R6be6061ce4d245dd" /><Relationship Type="http://schemas.openxmlformats.org/officeDocument/2006/relationships/slide" Target="/ppt/slides/slide7.xml" Id="R6b7d5d90077c4971" /><Relationship Type="http://schemas.openxmlformats.org/officeDocument/2006/relationships/slide" Target="/ppt/slides/slide8.xml" Id="R323530df11914fd9" /><Relationship Type="http://schemas.openxmlformats.org/officeDocument/2006/relationships/slide" Target="/ppt/slides/slide9.xml" Id="R8e06b7c5717c40f8" /><Relationship Type="http://schemas.openxmlformats.org/officeDocument/2006/relationships/slide" Target="/ppt/slides/slide10.xml" Id="R5164ba36ed144c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30d500f9af4b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9b438f9d934627" /><Relationship Type="http://schemas.openxmlformats.org/officeDocument/2006/relationships/notesMaster" Target="/ppt/notesMasters/notesMaster1.xml" Id="Rbaedb8abb3a24d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7479b1e16ed4e97" /><Relationship Type="http://schemas.openxmlformats.org/officeDocument/2006/relationships/notesMaster" Target="/ppt/notesMasters/notesMaster1.xml" Id="R9735ffe09ee847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56a5470f354136" /><Relationship Type="http://schemas.openxmlformats.org/officeDocument/2006/relationships/notesMaster" Target="/ppt/notesMasters/notesMaster1.xml" Id="R0bdb6ad67e3949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3fedb69cf949c1" /><Relationship Type="http://schemas.openxmlformats.org/officeDocument/2006/relationships/notesMaster" Target="/ppt/notesMasters/notesMaster1.xml" Id="R9c54067827b444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258f9562834200" /><Relationship Type="http://schemas.openxmlformats.org/officeDocument/2006/relationships/notesMaster" Target="/ppt/notesMasters/notesMaster1.xml" Id="Rf019ba4942a54c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6177e72c214777" /><Relationship Type="http://schemas.openxmlformats.org/officeDocument/2006/relationships/notesMaster" Target="/ppt/notesMasters/notesMaster1.xml" Id="R11053263f57041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43c8c25b4a4c2e" /><Relationship Type="http://schemas.openxmlformats.org/officeDocument/2006/relationships/notesMaster" Target="/ppt/notesMasters/notesMaster1.xml" Id="R120afa3831eb42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010abfad6a48de" /><Relationship Type="http://schemas.openxmlformats.org/officeDocument/2006/relationships/notesMaster" Target="/ppt/notesMasters/notesMaster1.xml" Id="R40adfc88206a4c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bd8113b4a14613" /><Relationship Type="http://schemas.openxmlformats.org/officeDocument/2006/relationships/notesMaster" Target="/ppt/notesMasters/notesMaster1.xml" Id="Rca8efadd28b441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6feb602974451b" /><Relationship Type="http://schemas.openxmlformats.org/officeDocument/2006/relationships/notesMaster" Target="/ppt/notesMasters/notesMaster1.xml" Id="R7336c9d2af0743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I am Sambhav Surana from Group 24. My project is PrivacyGate AI, a blockchain-based privacy-preserving IoT intelligence exchange. It demonstrates how an equipment owner can share a useful anomaly insight with an authorized reader while retaining detailed sensor readings locally. The current implementation is a Windows-native academic MVP with a local custom permission blockchain.</a:t>
            </a:r>
          </a:p>
          <a:p xmlns:a="http://schemas.openxmlformats.org/drawingml/2006/main">
            <a:r>
              <a:t/>
            </a:r>
          </a:p>
          <a:p xmlns:a="http://schemas.openxmlformats.org/drawingml/2006/main">
            <a:r>
              <a:t>Sources: docs/SPEC.md (project identity); docs/V2.md</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Industrial IoT systems generate detailed measurements such as temperature, vibration and rotational speed. A maintenance service may only need to know whether an anomaly occurred. Sharing continuous raw data gives the service more information than it needs and can reveal operational patterns. Our problem is to provide a useful machine insight while allowing the equipment owner to control the recipient and duration of access. The demonstration uses a simulated machine and synthetic readings.</a:t>
            </a:r>
          </a:p>
          <a:p xmlns:a="http://schemas.openxmlformats.org/drawingml/2006/main">
            <a:r>
              <a:t/>
            </a:r>
          </a:p>
          <a:p xmlns:a="http://schemas.openxmlformats.org/drawingml/2006/main">
            <a:r>
              <a:t>Sources: docs/SPEC.md; docs/V2.md</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objective is owner-controlled selective disclosure. The system verifies signed readings, encrypts raw payloads before storage, and runs local anomaly detection. It then applies deterministic rules before sharing an insight. The owner can grant expiring READ_INSIGHT access and revoke it later. A reader receives an encrypted event for that account and decrypts it locally. We evaluate both the privacy controls and the anomaly model using synthetic data.</a:t>
            </a:r>
          </a:p>
          <a:p xmlns:a="http://schemas.openxmlformats.org/drawingml/2006/main">
            <a:r>
              <a:t/>
            </a:r>
          </a:p>
          <a:p xmlns:a="http://schemas.openxmlformats.org/drawingml/2006/main">
            <a:r>
              <a:t>Sources: docs/V2.md; docs/ARCHITECTURE_V2.md</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the implemented v2 components. A signed sensor simulator submits readings to the trusted local gateway. The gateway verifies them, encrypts raw payloads into SQLite and runs the anomaly model. The owner dashboard provides detailed readings and permission controls. A separate local validator records signed permission changes. Before creating and retrieving an encrypted reader insight, the gateway checks fresh signed ledger state. The chain stores permission metadata only. One validator is centralized authority, not distributed consensus.</a:t>
            </a:r>
          </a:p>
          <a:p xmlns:a="http://schemas.openxmlformats.org/drawingml/2006/main">
            <a:r>
              <a:t/>
            </a:r>
          </a:p>
          <a:p xmlns:a="http://schemas.openxmlformats.org/drawingml/2006/main">
            <a:r>
              <a:t>Sources: docs/ARCHITECTURE_V2.md; docs/V2.md; architecture illustration generated for this presentation</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begins with equipment registration and a pinned simulator signing key. The simulator sends a signed packet with a timestamp and sequence number. The gateway validates it and atomically stores the encrypted reading with its sequence state. Isolation Forest produces an anomaly candidate. The privacy gate builds a fixed five-field insight and verifies the current permission and reader key versions. It encrypts the event for that reader. Retrieval repeats the permission check, so an old queued event cannot bypass a confirmed revocation.</a:t>
            </a:r>
          </a:p>
          <a:p xmlns:a="http://schemas.openxmlformats.org/drawingml/2006/main">
            <a:r>
              <a:t/>
            </a:r>
          </a:p>
          <a:p xmlns:a="http://schemas.openxmlformats.org/drawingml/2006/main">
            <a:r>
              <a:t>Sources: docs/V2.md; apps/gateway/src/privacygate_v2/service.py</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 and reader have deliberately different views. The owner sees numeric readings for owned equipment and manages access. The reader receives exactly event ID, event type, severity, observation time and model version. These fields still reveal some metadata, such as event timing. Raw payloads use AES-256-GCM before persistence. Reader envelopes use ephemeral X25519, HKDF-SHA256 and AES-GCM. The browser holds the private viewing key. The gateway checks fresh ledger state on dispatch and retrieval, and denies disclosure if state cannot be verified.</a:t>
            </a:r>
          </a:p>
          <a:p xmlns:a="http://schemas.openxmlformats.org/drawingml/2006/main">
            <a:r>
              <a:t/>
            </a:r>
          </a:p>
          <a:p xmlns:a="http://schemas.openxmlformats.org/drawingml/2006/main">
            <a:r>
              <a:t>Sources: docs/V2.md; docs/ARCHITECTURE_V2.md</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uses Python, FastAPI and SQLite. The frontend uses Next.js, React and TypeScript. The model uses scikit-learn on CPU. These are screenshots from the actual local v2 demo. On the left, the owner can see numerical measurements and run bounded simulations. On the right, the reader opens a restricted anomaly event in the browser. The demo sequence is registration, reader key setup, grant, anomaly generation, decryption and revocation. Reader accounts cannot retrieve the owner telemetry endpoint.</a:t>
            </a:r>
          </a:p>
          <a:p xmlns:a="http://schemas.openxmlformats.org/drawingml/2006/main">
            <a:r>
              <a:t/>
            </a:r>
          </a:p>
          <a:p xmlns:a="http://schemas.openxmlformats.org/drawingml/2006/main">
            <a:r>
              <a:t>Sources: docs/V2.md; docs/results/playwright/v2-demo-owner.png; docs/results/playwright/v2-demo-reader.png</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trained Isolation Forest on 512 synthetic normal samples using a fixed seed. The disjoint holdout contains 256 normal and 128 anomalous samples. Isolation Forest detected all 128 anomalies but also flagged five normal samples. This gives precision 0.9624, recall 1.0000 and F1 0.9808. The rule baseline made no errors on the same holdout, so it performed better here. The distributions are intentionally easy to separate. These results demonstrate reproducible evaluation and do not establish real equipment accuracy.</a:t>
            </a:r>
          </a:p>
          <a:p xmlns:a="http://schemas.openxmlformats.org/drawingml/2006/main">
            <a:r>
              <a:t/>
            </a:r>
          </a:p>
          <a:p xmlns:a="http://schemas.openxmlformats.org/drawingml/2006/main">
            <a:r>
              <a:t>Sources: docs/results/v2-model-evaluation.json</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execution report dated 26 October 2026 records 28 passing Python tests and a final browser run with 11 passing cases and one optional case skipped. The checks include tampered and replayed sensor data, wrong recipient keys, expiry, revocation and chain outage. The latency table reports separate stages measured with sequential bursts on one Windows host. These measurements are not a complete end-to-end percentile and do not prove sustained throughput. The slide reports retained evidence, rather than claiming a fresh test run today.</a:t>
            </a:r>
          </a:p>
          <a:p xmlns:a="http://schemas.openxmlformats.org/drawingml/2006/main">
            <a:r>
              <a:t/>
            </a:r>
          </a:p>
          <a:p xmlns:a="http://schemas.openxmlformats.org/drawingml/2006/main">
            <a:r>
              <a:t>Sources: docs/results/2026-10-26-v2-completion.md; docs/results/v2-benchmarks.json</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owner-controlled sharing of a restricted, recipient-encrypted machine insight. Signed input, local encrypted storage, a deterministic privacy gate and fresh permission checks connect into one reproducible demonstration. The main limits are a trusted gateway, one centralized validator and synthetic model evaluation. Future work should validate the model on realistic equipment data, evaluate multiple independently operated validators and strengthen key custody and recovery. These are proposed extensions, not implemented features. Thank you. I am ready for questions.</a:t>
            </a:r>
          </a:p>
          <a:p xmlns:a="http://schemas.openxmlformats.org/drawingml/2006/main">
            <a:r>
              <a:t/>
            </a:r>
          </a:p>
          <a:p xmlns:a="http://schemas.openxmlformats.org/drawingml/2006/main">
            <a:r>
              <a:t>Sources: docs/V2.md; docs/ARCHITECTURE_V2.md; docs/results/2026-10-26-v2-completion.md</a:t>
            </a:r>
          </a:p>
          <a:p xmlns:a="http://schemas.openxmlformats.org/drawingml/2006/main">
            <a:r>
              <a:t>Implementation: approved native v2. Results cited from 26 October 2026. Synthetic local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a50f2bd58f4a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f701b0a7af4f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3d9617d3d4b43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00dfb8bc704d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8780ebf5ef4c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12d983da5a45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C1EB52-6EB2-45E3-A5DA-30364FB24A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71D014-3230-435A-BB7A-34AA4AFCE5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4304F4D-01D6-47CC-928D-80AE460810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715A66-F09D-498C-A974-B64EDED42E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EB7EAD-1F4E-4BE8-B42D-1D2ACB26C7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6721FC-1F8D-474E-89A8-F9EF95B955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F0E1F7-742E-4D84-A543-1AA4E91C22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B6B554-4429-407A-B9C2-D5323CC344C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AD6C7D-CD8E-48DA-B0DF-0FEC9059B8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902C0B-079F-4C40-AD8F-5F1A16E13C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431f73377b4222" /><Relationship Type="http://schemas.openxmlformats.org/officeDocument/2006/relationships/slideLayout" Target="/ppt/slideLayouts/slideLayout1.xml" Id="R8533924c1d5d4b41" /><Relationship Type="http://schemas.openxmlformats.org/officeDocument/2006/relationships/slideLayout" Target="/ppt/slideLayouts/slideLayout2.xml" Id="R0b7156f3938d45a5" /><Relationship Type="http://schemas.openxmlformats.org/officeDocument/2006/relationships/slideLayout" Target="/ppt/slideLayouts/slideLayout3.xml" Id="Rd19f4c888f074edf" /><Relationship Type="http://schemas.openxmlformats.org/officeDocument/2006/relationships/slideLayout" Target="/ppt/slideLayouts/slideLayout4.xml" Id="Ra1e5ae7cc3514e98" /><Relationship Type="http://schemas.openxmlformats.org/officeDocument/2006/relationships/slideLayout" Target="/ppt/slideLayouts/slideLayout5.xml" Id="Raf7316d4c9514ffd" /><Relationship Type="http://schemas.openxmlformats.org/officeDocument/2006/relationships/slideLayout" Target="/ppt/slideLayouts/slideLayout6.xml" Id="R5fba5557716c4e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33924c1d5d4b41"/>
    <p:sldLayoutId xmlns:r="http://schemas.openxmlformats.org/officeDocument/2006/relationships" id="2147483650" r:id="R0b7156f3938d45a5"/>
    <p:sldLayoutId xmlns:r="http://schemas.openxmlformats.org/officeDocument/2006/relationships" id="2147483651" r:id="Rd19f4c888f074edf"/>
    <p:sldLayoutId xmlns:r="http://schemas.openxmlformats.org/officeDocument/2006/relationships" id="2147483652" r:id="Ra1e5ae7cc3514e98"/>
    <p:sldLayoutId xmlns:r="http://schemas.openxmlformats.org/officeDocument/2006/relationships" id="2147483653" r:id="Raf7316d4c9514ffd"/>
    <p:sldLayoutId xmlns:r="http://schemas.openxmlformats.org/officeDocument/2006/relationships" id="2147483654" r:id="R5fba5557716c4e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592972f13a43ee" /><Relationship Type="http://schemas.openxmlformats.org/officeDocument/2006/relationships/notesSlide" Target="/ppt/notesSlides/notesSlide1.xml" Id="R5d47e2ea891146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3dfb60cd464699" /><Relationship Type="http://schemas.openxmlformats.org/officeDocument/2006/relationships/notesSlide" Target="/ppt/notesSlides/notesSlide2.xml" Id="R294b13945a4b49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8423e6468e499d" /><Relationship Type="http://schemas.openxmlformats.org/officeDocument/2006/relationships/notesSlide" Target="/ppt/notesSlides/notesSlide3.xml" Id="Rbd3d194145804a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2d1f81b4744835" /><Relationship Type="http://schemas.openxmlformats.org/officeDocument/2006/relationships/image" Target="/ppt/media/image.png" Id="R2602bd8e07f24e2f" /><Relationship Type="http://schemas.openxmlformats.org/officeDocument/2006/relationships/notesSlide" Target="/ppt/notesSlides/notesSlide4.xml" Id="R37458537f2974d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4bc44ea54694909" /><Relationship Type="http://schemas.openxmlformats.org/officeDocument/2006/relationships/notesSlide" Target="/ppt/notesSlides/notesSlide5.xml" Id="R74c29b5ae22f45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3012676383434e" /><Relationship Type="http://schemas.openxmlformats.org/officeDocument/2006/relationships/notesSlide" Target="/ppt/notesSlides/notesSlide6.xml" Id="R70d30f5774a741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5770e022094ab0" /><Relationship Type="http://schemas.openxmlformats.org/officeDocument/2006/relationships/image" Target="/ppt/media/image2.png" Id="Ra69f73e41bc14898" /><Relationship Type="http://schemas.openxmlformats.org/officeDocument/2006/relationships/image" Target="/ppt/media/image3.png" Id="Rbd340570857d4e15" /><Relationship Type="http://schemas.openxmlformats.org/officeDocument/2006/relationships/notesSlide" Target="/ppt/notesSlides/notesSlide7.xml" Id="Reda4a0f69b6f4d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8d89aa190c406f" /><Relationship Type="http://schemas.openxmlformats.org/officeDocument/2006/relationships/notesSlide" Target="/ppt/notesSlides/notesSlide8.xml" Id="R6df4b158b78b41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f6ccdc0e9dc4d63" /><Relationship Type="http://schemas.openxmlformats.org/officeDocument/2006/relationships/notesSlide" Target="/ppt/notesSlides/notesSlide9.xml" Id="R0533b378e31843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286d45bc2ff4c2d" /><Relationship Type="http://schemas.openxmlformats.org/officeDocument/2006/relationships/notesSlide" Target="/ppt/notesSlides/notesSlide10.xml" Id="R4d70e24d2be34b65" /></Relationships>
</file>

<file path=ppt/slides/slide1.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F0DCB2-CD0E-4F5F-82F4-82087D3D93AF}"/>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PRIVACYGATE AI</a:t>
            </a:r>
          </a:p>
        </p:txBody>
      </p:sp>
      <p:sp>
        <p:nvSpPr>
          <p:cNvPr id="2" name="">
            <a:extLst xmlns:a="http://schemas.openxmlformats.org/drawingml/2006/main">
              <a:ext uri="{FF2B5EF4-FFF2-40B4-BE49-F238E27FC236}">
                <a16:creationId xmlns:a16="http://schemas.microsoft.com/office/drawing/2014/main" id="{A937A4AF-188C-441D-96BE-C65CA913232B}"/>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6D7E7"/>
                </a:solidFill>
                <a:latin typeface="Arial"/>
                <a:ea typeface="Arial"/>
                <a:cs typeface="Arial"/>
              </a:defRPr>
            </a:defPPr>
            <a:lvl1pPr>
              <a:defRPr sz="1275" b="0">
                <a:solidFill>
                  <a:srgbClr val="C6D7E7"/>
                </a:solidFill>
                <a:latin typeface="Arial"/>
                <a:ea typeface="Arial"/>
                <a:cs typeface="Arial"/>
              </a:defRPr>
            </a:lvl1pPr>
            <a:lvl2pPr>
              <a:defRPr sz="1275" b="0">
                <a:solidFill>
                  <a:srgbClr val="C6D7E7"/>
                </a:solidFill>
                <a:latin typeface="Arial"/>
                <a:ea typeface="Arial"/>
                <a:cs typeface="Arial"/>
              </a:defRPr>
            </a:lvl2pPr>
            <a:lvl3pPr>
              <a:defRPr sz="1275" b="0">
                <a:solidFill>
                  <a:srgbClr val="C6D7E7"/>
                </a:solidFill>
                <a:latin typeface="Arial"/>
                <a:ea typeface="Arial"/>
                <a:cs typeface="Arial"/>
              </a:defRPr>
            </a:lvl3pPr>
            <a:lvl4pPr>
              <a:defRPr sz="1275" b="0">
                <a:solidFill>
                  <a:srgbClr val="C6D7E7"/>
                </a:solidFill>
                <a:latin typeface="Arial"/>
                <a:ea typeface="Arial"/>
                <a:cs typeface="Arial"/>
              </a:defRPr>
            </a:lvl4pPr>
            <a:lvl5pPr>
              <a:defRPr sz="1275" b="0">
                <a:solidFill>
                  <a:srgbClr val="C6D7E7"/>
                </a:solidFill>
                <a:latin typeface="Arial"/>
                <a:ea typeface="Arial"/>
                <a:cs typeface="Arial"/>
              </a:defRPr>
            </a:lvl5pPr>
            <a:lvl6pPr>
              <a:defRPr sz="1275" b="0">
                <a:solidFill>
                  <a:srgbClr val="C6D7E7"/>
                </a:solidFill>
                <a:latin typeface="Arial"/>
                <a:ea typeface="Arial"/>
                <a:cs typeface="Arial"/>
              </a:defRPr>
            </a:lvl6pPr>
            <a:lvl7pPr>
              <a:defRPr sz="1275" b="0">
                <a:solidFill>
                  <a:srgbClr val="C6D7E7"/>
                </a:solidFill>
                <a:latin typeface="Arial"/>
                <a:ea typeface="Arial"/>
                <a:cs typeface="Arial"/>
              </a:defRPr>
            </a:lvl7pPr>
            <a:lvl8pPr>
              <a:defRPr sz="1275" b="0">
                <a:solidFill>
                  <a:srgbClr val="C6D7E7"/>
                </a:solidFill>
                <a:latin typeface="Arial"/>
                <a:ea typeface="Arial"/>
                <a:cs typeface="Arial"/>
              </a:defRPr>
            </a:lvl8pPr>
            <a:lvl9pPr>
              <a:defRPr sz="1275" b="0">
                <a:solidFill>
                  <a:srgbClr val="C6D7E7"/>
                </a:solidFill>
                <a:latin typeface="Arial"/>
                <a:ea typeface="Arial"/>
                <a:cs typeface="Arial"/>
              </a:defRPr>
            </a:lvl9pPr>
          </a:lstStyle>
          <a:p xmlns:a="http://schemas.openxmlformats.org/drawingml/2006/main">
            <a:pPr>
              <a:defRPr sz="1275" b="0">
                <a:solidFill>
                  <a:srgbClr val="C6D7E7"/>
                </a:solidFill>
                <a:latin typeface="Arial"/>
                <a:ea typeface="Arial"/>
                <a:cs typeface="Arial"/>
              </a:defRPr>
            </a:pPr>
            <a:r>
              <a:rPr sz="1275" b="0">
                <a:solidFill>
                  <a:srgbClr val="C6D7E7"/>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074999F7-EA76-4B01-85FD-802CB021F2CF}"/>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6D7E7"/>
                </a:solidFill>
                <a:latin typeface="Arial"/>
                <a:ea typeface="Arial"/>
                <a:cs typeface="Arial"/>
              </a:defRPr>
            </a:defPPr>
            <a:lvl1pPr>
              <a:defRPr sz="1275" b="0">
                <a:solidFill>
                  <a:srgbClr val="C6D7E7"/>
                </a:solidFill>
                <a:latin typeface="Arial"/>
                <a:ea typeface="Arial"/>
                <a:cs typeface="Arial"/>
              </a:defRPr>
            </a:lvl1pPr>
            <a:lvl2pPr>
              <a:defRPr sz="1275" b="0">
                <a:solidFill>
                  <a:srgbClr val="C6D7E7"/>
                </a:solidFill>
                <a:latin typeface="Arial"/>
                <a:ea typeface="Arial"/>
                <a:cs typeface="Arial"/>
              </a:defRPr>
            </a:lvl2pPr>
            <a:lvl3pPr>
              <a:defRPr sz="1275" b="0">
                <a:solidFill>
                  <a:srgbClr val="C6D7E7"/>
                </a:solidFill>
                <a:latin typeface="Arial"/>
                <a:ea typeface="Arial"/>
                <a:cs typeface="Arial"/>
              </a:defRPr>
            </a:lvl3pPr>
            <a:lvl4pPr>
              <a:defRPr sz="1275" b="0">
                <a:solidFill>
                  <a:srgbClr val="C6D7E7"/>
                </a:solidFill>
                <a:latin typeface="Arial"/>
                <a:ea typeface="Arial"/>
                <a:cs typeface="Arial"/>
              </a:defRPr>
            </a:lvl4pPr>
            <a:lvl5pPr>
              <a:defRPr sz="1275" b="0">
                <a:solidFill>
                  <a:srgbClr val="C6D7E7"/>
                </a:solidFill>
                <a:latin typeface="Arial"/>
                <a:ea typeface="Arial"/>
                <a:cs typeface="Arial"/>
              </a:defRPr>
            </a:lvl5pPr>
            <a:lvl6pPr>
              <a:defRPr sz="1275" b="0">
                <a:solidFill>
                  <a:srgbClr val="C6D7E7"/>
                </a:solidFill>
                <a:latin typeface="Arial"/>
                <a:ea typeface="Arial"/>
                <a:cs typeface="Arial"/>
              </a:defRPr>
            </a:lvl6pPr>
            <a:lvl7pPr>
              <a:defRPr sz="1275" b="0">
                <a:solidFill>
                  <a:srgbClr val="C6D7E7"/>
                </a:solidFill>
                <a:latin typeface="Arial"/>
                <a:ea typeface="Arial"/>
                <a:cs typeface="Arial"/>
              </a:defRPr>
            </a:lvl7pPr>
            <a:lvl8pPr>
              <a:defRPr sz="1275" b="0">
                <a:solidFill>
                  <a:srgbClr val="C6D7E7"/>
                </a:solidFill>
                <a:latin typeface="Arial"/>
                <a:ea typeface="Arial"/>
                <a:cs typeface="Arial"/>
              </a:defRPr>
            </a:lvl8pPr>
            <a:lvl9pPr>
              <a:defRPr sz="1275" b="0">
                <a:solidFill>
                  <a:srgbClr val="C6D7E7"/>
                </a:solidFill>
                <a:latin typeface="Arial"/>
                <a:ea typeface="Arial"/>
                <a:cs typeface="Arial"/>
              </a:defRPr>
            </a:lvl9pPr>
          </a:lstStyle>
          <a:p xmlns:a="http://schemas.openxmlformats.org/drawingml/2006/main">
            <a:pPr>
              <a:defRPr sz="1275" b="0">
                <a:solidFill>
                  <a:srgbClr val="C6D7E7"/>
                </a:solidFill>
                <a:latin typeface="Arial"/>
                <a:ea typeface="Arial"/>
                <a:cs typeface="Arial"/>
              </a:defRPr>
            </a:pPr>
            <a:r>
              <a:rPr sz="1275" b="0">
                <a:solidFill>
                  <a:srgbClr val="C6D7E7"/>
                </a:solidFill>
                <a:latin typeface="Arial"/>
                <a:ea typeface="Arial"/>
                <a:cs typeface="Arial"/>
              </a:rPr>
              <a:t>01 / 10</a:t>
            </a:r>
          </a:p>
        </p:txBody>
      </p:sp>
      <p:sp>
        <p:nvSpPr>
          <p:cNvPr id="4" name="">
            <a:extLst xmlns:a="http://schemas.openxmlformats.org/drawingml/2006/main">
              <a:ext uri="{FF2B5EF4-FFF2-40B4-BE49-F238E27FC236}">
                <a16:creationId xmlns:a16="http://schemas.microsoft.com/office/drawing/2014/main" id="{C0B40830-13D9-427D-8024-3A6ABFA32B39}"/>
              </a:ext>
            </a:extLst>
          </p:cNvPr>
          <p:cNvSpPr>
            <a:spLocks xmlns:a="http://schemas.openxmlformats.org/drawingml/2006/main" noGrp="1"/>
          </p:cNvSpPr>
          <p:nvPr/>
        </p:nvSpPr>
        <p:spPr>
          <a:xfrm xmlns:a="http://schemas.openxmlformats.org/drawingml/2006/main">
            <a:off x="666750" y="17907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825" b="1">
                <a:solidFill>
                  <a:srgbClr val="FFFFFF"/>
                </a:solidFill>
                <a:latin typeface="Arial"/>
                <a:ea typeface="Arial"/>
                <a:cs typeface="Arial"/>
              </a:defRPr>
            </a:defPPr>
            <a:lvl1pPr>
              <a:defRPr sz="3825" b="1">
                <a:solidFill>
                  <a:srgbClr val="FFFFFF"/>
                </a:solidFill>
                <a:latin typeface="Arial"/>
                <a:ea typeface="Arial"/>
                <a:cs typeface="Arial"/>
              </a:defRPr>
            </a:lvl1pPr>
            <a:lvl2pPr>
              <a:defRPr sz="3825" b="1">
                <a:solidFill>
                  <a:srgbClr val="FFFFFF"/>
                </a:solidFill>
                <a:latin typeface="Arial"/>
                <a:ea typeface="Arial"/>
                <a:cs typeface="Arial"/>
              </a:defRPr>
            </a:lvl2pPr>
            <a:lvl3pPr>
              <a:defRPr sz="3825" b="1">
                <a:solidFill>
                  <a:srgbClr val="FFFFFF"/>
                </a:solidFill>
                <a:latin typeface="Arial"/>
                <a:ea typeface="Arial"/>
                <a:cs typeface="Arial"/>
              </a:defRPr>
            </a:lvl3pPr>
            <a:lvl4pPr>
              <a:defRPr sz="3825" b="1">
                <a:solidFill>
                  <a:srgbClr val="FFFFFF"/>
                </a:solidFill>
                <a:latin typeface="Arial"/>
                <a:ea typeface="Arial"/>
                <a:cs typeface="Arial"/>
              </a:defRPr>
            </a:lvl4pPr>
            <a:lvl5pPr>
              <a:defRPr sz="3825" b="1">
                <a:solidFill>
                  <a:srgbClr val="FFFFFF"/>
                </a:solidFill>
                <a:latin typeface="Arial"/>
                <a:ea typeface="Arial"/>
                <a:cs typeface="Arial"/>
              </a:defRPr>
            </a:lvl5pPr>
            <a:lvl6pPr>
              <a:defRPr sz="3825" b="1">
                <a:solidFill>
                  <a:srgbClr val="FFFFFF"/>
                </a:solidFill>
                <a:latin typeface="Arial"/>
                <a:ea typeface="Arial"/>
                <a:cs typeface="Arial"/>
              </a:defRPr>
            </a:lvl6pPr>
            <a:lvl7pPr>
              <a:defRPr sz="3825" b="1">
                <a:solidFill>
                  <a:srgbClr val="FFFFFF"/>
                </a:solidFill>
                <a:latin typeface="Arial"/>
                <a:ea typeface="Arial"/>
                <a:cs typeface="Arial"/>
              </a:defRPr>
            </a:lvl7pPr>
            <a:lvl8pPr>
              <a:defRPr sz="3825" b="1">
                <a:solidFill>
                  <a:srgbClr val="FFFFFF"/>
                </a:solidFill>
                <a:latin typeface="Arial"/>
                <a:ea typeface="Arial"/>
                <a:cs typeface="Arial"/>
              </a:defRPr>
            </a:lvl8pPr>
            <a:lvl9pPr>
              <a:defRPr sz="3825" b="1">
                <a:solidFill>
                  <a:srgbClr val="FFFFFF"/>
                </a:solidFill>
                <a:latin typeface="Arial"/>
                <a:ea typeface="Arial"/>
                <a:cs typeface="Arial"/>
              </a:defRPr>
            </a:lvl9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Blockchain-Based Privacy-Preserving</a:t>
            </a:r>
          </a:p>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IoT Intelligence Exchange</a:t>
            </a:r>
          </a:p>
        </p:txBody>
      </p:sp>
      <p:sp>
        <p:nvSpPr>
          <p:cNvPr id="5" name="">
            <a:extLst xmlns:a="http://schemas.openxmlformats.org/drawingml/2006/main">
              <a:ext uri="{FF2B5EF4-FFF2-40B4-BE49-F238E27FC236}">
                <a16:creationId xmlns:a16="http://schemas.microsoft.com/office/drawing/2014/main" id="{5A6EF595-FDB7-40DD-8AFF-5138E048E67E}"/>
              </a:ext>
            </a:extLst>
          </p:cNvPr>
          <p:cNvSpPr>
            <a:spLocks xmlns:a="http://schemas.openxmlformats.org/drawingml/2006/main" noGrp="1"/>
          </p:cNvSpPr>
          <p:nvPr/>
        </p:nvSpPr>
        <p:spPr>
          <a:xfrm xmlns:a="http://schemas.openxmlformats.org/drawingml/2006/main">
            <a:off x="685800" y="3638550"/>
            <a:ext cx="1019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89D9DB"/>
                </a:solidFill>
                <a:latin typeface="Arial"/>
                <a:ea typeface="Arial"/>
                <a:cs typeface="Arial"/>
              </a:defRPr>
            </a:defPPr>
            <a:lvl1pPr>
              <a:defRPr sz="2175" b="0">
                <a:solidFill>
                  <a:srgbClr val="89D9DB"/>
                </a:solidFill>
                <a:latin typeface="Arial"/>
                <a:ea typeface="Arial"/>
                <a:cs typeface="Arial"/>
              </a:defRPr>
            </a:lvl1pPr>
            <a:lvl2pPr>
              <a:defRPr sz="2175" b="0">
                <a:solidFill>
                  <a:srgbClr val="89D9DB"/>
                </a:solidFill>
                <a:latin typeface="Arial"/>
                <a:ea typeface="Arial"/>
                <a:cs typeface="Arial"/>
              </a:defRPr>
            </a:lvl2pPr>
            <a:lvl3pPr>
              <a:defRPr sz="2175" b="0">
                <a:solidFill>
                  <a:srgbClr val="89D9DB"/>
                </a:solidFill>
                <a:latin typeface="Arial"/>
                <a:ea typeface="Arial"/>
                <a:cs typeface="Arial"/>
              </a:defRPr>
            </a:lvl3pPr>
            <a:lvl4pPr>
              <a:defRPr sz="2175" b="0">
                <a:solidFill>
                  <a:srgbClr val="89D9DB"/>
                </a:solidFill>
                <a:latin typeface="Arial"/>
                <a:ea typeface="Arial"/>
                <a:cs typeface="Arial"/>
              </a:defRPr>
            </a:lvl4pPr>
            <a:lvl5pPr>
              <a:defRPr sz="2175" b="0">
                <a:solidFill>
                  <a:srgbClr val="89D9DB"/>
                </a:solidFill>
                <a:latin typeface="Arial"/>
                <a:ea typeface="Arial"/>
                <a:cs typeface="Arial"/>
              </a:defRPr>
            </a:lvl5pPr>
            <a:lvl6pPr>
              <a:defRPr sz="2175" b="0">
                <a:solidFill>
                  <a:srgbClr val="89D9DB"/>
                </a:solidFill>
                <a:latin typeface="Arial"/>
                <a:ea typeface="Arial"/>
                <a:cs typeface="Arial"/>
              </a:defRPr>
            </a:lvl6pPr>
            <a:lvl7pPr>
              <a:defRPr sz="2175" b="0">
                <a:solidFill>
                  <a:srgbClr val="89D9DB"/>
                </a:solidFill>
                <a:latin typeface="Arial"/>
                <a:ea typeface="Arial"/>
                <a:cs typeface="Arial"/>
              </a:defRPr>
            </a:lvl7pPr>
            <a:lvl8pPr>
              <a:defRPr sz="2175" b="0">
                <a:solidFill>
                  <a:srgbClr val="89D9DB"/>
                </a:solidFill>
                <a:latin typeface="Arial"/>
                <a:ea typeface="Arial"/>
                <a:cs typeface="Arial"/>
              </a:defRPr>
            </a:lvl8pPr>
            <a:lvl9pPr>
              <a:defRPr sz="2175" b="0">
                <a:solidFill>
                  <a:srgbClr val="89D9DB"/>
                </a:solidFill>
                <a:latin typeface="Arial"/>
                <a:ea typeface="Arial"/>
                <a:cs typeface="Arial"/>
              </a:defRPr>
            </a:lvl9pPr>
          </a:lstStyle>
          <a:p xmlns:a="http://schemas.openxmlformats.org/drawingml/2006/main">
            <a:pPr>
              <a:defRPr sz="2175" b="0">
                <a:solidFill>
                  <a:srgbClr val="89D9DB"/>
                </a:solidFill>
                <a:latin typeface="Arial"/>
                <a:ea typeface="Arial"/>
                <a:cs typeface="Arial"/>
              </a:defRPr>
            </a:pPr>
            <a:r>
              <a:rPr sz="2175" b="0">
                <a:solidFill>
                  <a:srgbClr val="89D9DB"/>
                </a:solidFill>
                <a:latin typeface="Arial"/>
                <a:ea typeface="Arial"/>
                <a:cs typeface="Arial"/>
              </a:rPr>
              <a:t>B.Tech Project Presentation</a:t>
            </a:r>
          </a:p>
        </p:txBody>
      </p:sp>
      <p:sp>
        <p:nvSpPr>
          <p:cNvPr id="6" name="">
            <a:extLst xmlns:a="http://schemas.openxmlformats.org/drawingml/2006/main">
              <a:ext uri="{FF2B5EF4-FFF2-40B4-BE49-F238E27FC236}">
                <a16:creationId xmlns:a16="http://schemas.microsoft.com/office/drawing/2014/main" id="{3E3A36DA-E5A8-4460-9A82-27D0A0F56022}"/>
              </a:ext>
            </a:extLst>
          </p:cNvPr>
          <p:cNvSpPr>
            <a:spLocks xmlns:a="http://schemas.openxmlformats.org/drawingml/2006/main" noGrp="1"/>
          </p:cNvSpPr>
          <p:nvPr/>
        </p:nvSpPr>
        <p:spPr>
          <a:xfrm xmlns:a="http://schemas.openxmlformats.org/drawingml/2006/main">
            <a:off x="685800" y="4543425"/>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Presented by</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Sambhav Surana</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Enrollment: 23100BTCSAII14318</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Group 24</a:t>
            </a:r>
          </a:p>
        </p:txBody>
      </p:sp>
      <p:sp>
        <p:nvSpPr>
          <p:cNvPr id="7" name="">
            <a:extLst xmlns:a="http://schemas.openxmlformats.org/drawingml/2006/main">
              <a:ext uri="{FF2B5EF4-FFF2-40B4-BE49-F238E27FC236}">
                <a16:creationId xmlns:a16="http://schemas.microsoft.com/office/drawing/2014/main" id="{44C98551-0D88-4C13-B2EE-1F3FF47F2686}"/>
              </a:ext>
            </a:extLst>
          </p:cNvPr>
          <p:cNvSpPr>
            <a:spLocks xmlns:a="http://schemas.openxmlformats.org/drawingml/2006/main" noGrp="1"/>
          </p:cNvSpPr>
          <p:nvPr/>
        </p:nvSpPr>
        <p:spPr>
          <a:xfrm xmlns:a="http://schemas.openxmlformats.org/drawingml/2006/main">
            <a:off x="7000875" y="4543425"/>
            <a:ext cx="4476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Under the guidance of</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Prof. Rohit Choubey</a:t>
            </a:r>
          </a:p>
          <a:p xmlns:a="http://schemas.openxmlformats.org/drawingml/2006/main">
            <a:r>
              <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Artificial Intelligence &amp; Data Science</a:t>
            </a:r>
          </a:p>
        </p:txBody>
      </p:sp>
    </p:spTree>
    <p:extLst>
      <p:ext uri="{BB962C8B-B14F-4D97-AF65-F5344CB8AC3E}">
        <p14:creationId xmlns:p14="http://schemas.microsoft.com/office/powerpoint/2010/main" val="20182907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BD5427-F96F-462C-9FC9-8DF481A96C73}"/>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Introduction and problem statement</a:t>
            </a:r>
          </a:p>
        </p:txBody>
      </p:sp>
      <p:sp>
        <p:nvSpPr>
          <p:cNvPr id="2" name="">
            <a:extLst xmlns:a="http://schemas.openxmlformats.org/drawingml/2006/main">
              <a:ext uri="{FF2B5EF4-FFF2-40B4-BE49-F238E27FC236}">
                <a16:creationId xmlns:a16="http://schemas.microsoft.com/office/drawing/2014/main" id="{78F7972E-AE32-48E2-BD74-156C294A255C}"/>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E8E94F2F-1766-4783-A916-6D6E267FD635}"/>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02 / 10</a:t>
            </a:r>
          </a:p>
        </p:txBody>
      </p:sp>
      <p:sp>
        <p:nvSpPr>
          <p:cNvPr id="4" name="">
            <a:extLst xmlns:a="http://schemas.openxmlformats.org/drawingml/2006/main">
              <a:ext uri="{FF2B5EF4-FFF2-40B4-BE49-F238E27FC236}">
                <a16:creationId xmlns:a16="http://schemas.microsoft.com/office/drawing/2014/main" id="{AB216B1D-749B-42EC-AF3B-0DB37AED1411}"/>
              </a:ext>
            </a:extLst>
          </p:cNvPr>
          <p:cNvSpPr>
            <a:spLocks xmlns:a="http://schemas.openxmlformats.org/drawingml/2006/main" noGrp="1"/>
          </p:cNvSpPr>
          <p:nvPr/>
        </p:nvSpPr>
        <p:spPr>
          <a:xfrm xmlns:a="http://schemas.openxmlformats.org/drawingml/2006/main">
            <a:off x="666750" y="15240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42D4E"/>
                </a:solidFill>
                <a:latin typeface="Arial"/>
                <a:ea typeface="Arial"/>
                <a:cs typeface="Arial"/>
              </a:defRPr>
            </a:defPPr>
            <a:lvl1pPr>
              <a:defRPr sz="2700" b="1">
                <a:solidFill>
                  <a:srgbClr val="142D4E"/>
                </a:solidFill>
                <a:latin typeface="Arial"/>
                <a:ea typeface="Arial"/>
                <a:cs typeface="Arial"/>
              </a:defRPr>
            </a:lvl1pPr>
            <a:lvl2pPr>
              <a:defRPr sz="2700" b="1">
                <a:solidFill>
                  <a:srgbClr val="142D4E"/>
                </a:solidFill>
                <a:latin typeface="Arial"/>
                <a:ea typeface="Arial"/>
                <a:cs typeface="Arial"/>
              </a:defRPr>
            </a:lvl2pPr>
            <a:lvl3pPr>
              <a:defRPr sz="2700" b="1">
                <a:solidFill>
                  <a:srgbClr val="142D4E"/>
                </a:solidFill>
                <a:latin typeface="Arial"/>
                <a:ea typeface="Arial"/>
                <a:cs typeface="Arial"/>
              </a:defRPr>
            </a:lvl3pPr>
            <a:lvl4pPr>
              <a:defRPr sz="2700" b="1">
                <a:solidFill>
                  <a:srgbClr val="142D4E"/>
                </a:solidFill>
                <a:latin typeface="Arial"/>
                <a:ea typeface="Arial"/>
                <a:cs typeface="Arial"/>
              </a:defRPr>
            </a:lvl4pPr>
            <a:lvl5pPr>
              <a:defRPr sz="2700" b="1">
                <a:solidFill>
                  <a:srgbClr val="142D4E"/>
                </a:solidFill>
                <a:latin typeface="Arial"/>
                <a:ea typeface="Arial"/>
                <a:cs typeface="Arial"/>
              </a:defRPr>
            </a:lvl5pPr>
            <a:lvl6pPr>
              <a:defRPr sz="2700" b="1">
                <a:solidFill>
                  <a:srgbClr val="142D4E"/>
                </a:solidFill>
                <a:latin typeface="Arial"/>
                <a:ea typeface="Arial"/>
                <a:cs typeface="Arial"/>
              </a:defRPr>
            </a:lvl6pPr>
            <a:lvl7pPr>
              <a:defRPr sz="2700" b="1">
                <a:solidFill>
                  <a:srgbClr val="142D4E"/>
                </a:solidFill>
                <a:latin typeface="Arial"/>
                <a:ea typeface="Arial"/>
                <a:cs typeface="Arial"/>
              </a:defRPr>
            </a:lvl7pPr>
            <a:lvl8pPr>
              <a:defRPr sz="2700" b="1">
                <a:solidFill>
                  <a:srgbClr val="142D4E"/>
                </a:solidFill>
                <a:latin typeface="Arial"/>
                <a:ea typeface="Arial"/>
                <a:cs typeface="Arial"/>
              </a:defRPr>
            </a:lvl8pPr>
            <a:lvl9pPr>
              <a:defRPr sz="2700" b="1">
                <a:solidFill>
                  <a:srgbClr val="142D4E"/>
                </a:solidFill>
                <a:latin typeface="Arial"/>
                <a:ea typeface="Arial"/>
                <a:cs typeface="Arial"/>
              </a:defRPr>
            </a:lvl9pPr>
          </a:lstStyle>
          <a:p xmlns:a="http://schemas.openxmlformats.org/drawingml/2006/main">
            <a:pPr>
              <a:defRPr sz="2700" b="1">
                <a:solidFill>
                  <a:srgbClr val="142D4E"/>
                </a:solidFill>
                <a:latin typeface="Arial"/>
                <a:ea typeface="Arial"/>
                <a:cs typeface="Arial"/>
              </a:defRPr>
            </a:pPr>
            <a:r>
              <a:rPr sz="2700" b="1">
                <a:solidFill>
                  <a:srgbClr val="142D4E"/>
                </a:solidFill>
                <a:latin typeface="Arial"/>
                <a:ea typeface="Arial"/>
                <a:cs typeface="Arial"/>
              </a:rPr>
              <a:t>Industrial IoT data can reveal sensitive operating conditions</a:t>
            </a:r>
          </a:p>
        </p:txBody>
      </p:sp>
      <p:sp>
        <p:nvSpPr>
          <p:cNvPr id="5" name="">
            <a:extLst xmlns:a="http://schemas.openxmlformats.org/drawingml/2006/main">
              <a:ext uri="{FF2B5EF4-FFF2-40B4-BE49-F238E27FC236}">
                <a16:creationId xmlns:a16="http://schemas.microsoft.com/office/drawing/2014/main" id="{AB17B1C7-A421-46FC-9470-CE3A0829139F}"/>
              </a:ext>
            </a:extLst>
          </p:cNvPr>
          <p:cNvSpPr>
            <a:spLocks xmlns:a="http://schemas.openxmlformats.org/drawingml/2006/main" noGrp="1"/>
          </p:cNvSpPr>
          <p:nvPr/>
        </p:nvSpPr>
        <p:spPr>
          <a:xfrm xmlns:a="http://schemas.openxmlformats.org/drawingml/2006/main">
            <a:off x="666750" y="28194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IoT measurements</a:t>
            </a:r>
          </a:p>
        </p:txBody>
      </p:sp>
      <p:sp>
        <p:nvSpPr>
          <p:cNvPr id="6" name="">
            <a:extLst xmlns:a="http://schemas.openxmlformats.org/drawingml/2006/main">
              <a:ext uri="{FF2B5EF4-FFF2-40B4-BE49-F238E27FC236}">
                <a16:creationId xmlns:a16="http://schemas.microsoft.com/office/drawing/2014/main" id="{F1FDC28B-9A45-4319-97F3-FD27D2FD9DEE}"/>
              </a:ext>
            </a:extLst>
          </p:cNvPr>
          <p:cNvSpPr>
            <a:spLocks xmlns:a="http://schemas.openxmlformats.org/drawingml/2006/main" noGrp="1"/>
          </p:cNvSpPr>
          <p:nvPr/>
        </p:nvSpPr>
        <p:spPr>
          <a:xfrm xmlns:a="http://schemas.openxmlformats.org/drawingml/2006/main">
            <a:off x="3810000" y="2819400"/>
            <a:ext cx="752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Temperature, vibration and RPM describe the machine in detail.</a:t>
            </a:r>
          </a:p>
        </p:txBody>
      </p:sp>
      <p:sp>
        <p:nvSpPr>
          <p:cNvPr id="7" name="">
            <a:extLst xmlns:a="http://schemas.openxmlformats.org/drawingml/2006/main">
              <a:ext uri="{FF2B5EF4-FFF2-40B4-BE49-F238E27FC236}">
                <a16:creationId xmlns:a16="http://schemas.microsoft.com/office/drawing/2014/main" id="{52987510-0F0E-4A71-9C5F-2F4AC7987533}"/>
              </a:ext>
            </a:extLst>
          </p:cNvPr>
          <p:cNvSpPr>
            <a:spLocks xmlns:a="http://schemas.openxmlformats.org/drawingml/2006/main" noGrp="1"/>
          </p:cNvSpPr>
          <p:nvPr/>
        </p:nvSpPr>
        <p:spPr>
          <a:xfrm xmlns:a="http://schemas.openxmlformats.org/drawingml/2006/main">
            <a:off x="666750" y="391477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Privacy concern</a:t>
            </a:r>
          </a:p>
        </p:txBody>
      </p:sp>
      <p:sp>
        <p:nvSpPr>
          <p:cNvPr id="8" name="">
            <a:extLst xmlns:a="http://schemas.openxmlformats.org/drawingml/2006/main">
              <a:ext uri="{FF2B5EF4-FFF2-40B4-BE49-F238E27FC236}">
                <a16:creationId xmlns:a16="http://schemas.microsoft.com/office/drawing/2014/main" id="{A10BB1B9-3C44-4FD9-88D3-488C7FB21AFF}"/>
              </a:ext>
            </a:extLst>
          </p:cNvPr>
          <p:cNvSpPr>
            <a:spLocks xmlns:a="http://schemas.openxmlformats.org/drawingml/2006/main" noGrp="1"/>
          </p:cNvSpPr>
          <p:nvPr/>
        </p:nvSpPr>
        <p:spPr>
          <a:xfrm xmlns:a="http://schemas.openxmlformats.org/drawingml/2006/main">
            <a:off x="3810000" y="3914775"/>
            <a:ext cx="752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An external maintenance reader may need an alert without continuous access to raw measurements.</a:t>
            </a:r>
          </a:p>
        </p:txBody>
      </p:sp>
      <p:sp>
        <p:nvSpPr>
          <p:cNvPr id="9" name="">
            <a:extLst xmlns:a="http://schemas.openxmlformats.org/drawingml/2006/main">
              <a:ext uri="{FF2B5EF4-FFF2-40B4-BE49-F238E27FC236}">
                <a16:creationId xmlns:a16="http://schemas.microsoft.com/office/drawing/2014/main" id="{F2FF29BF-F3F6-451D-BD7C-8AB70E03E4FB}"/>
              </a:ext>
            </a:extLst>
          </p:cNvPr>
          <p:cNvSpPr>
            <a:spLocks xmlns:a="http://schemas.openxmlformats.org/drawingml/2006/main" noGrp="1"/>
          </p:cNvSpPr>
          <p:nvPr/>
        </p:nvSpPr>
        <p:spPr>
          <a:xfrm xmlns:a="http://schemas.openxmlformats.org/drawingml/2006/main">
            <a:off x="666750" y="5324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75" b="1">
                <a:solidFill>
                  <a:srgbClr val="087F8C"/>
                </a:solidFill>
                <a:latin typeface="Arial"/>
                <a:ea typeface="Arial"/>
                <a:cs typeface="Arial"/>
              </a:defRPr>
            </a:defPPr>
            <a:lvl1pPr>
              <a:defRPr sz="2475" b="1">
                <a:solidFill>
                  <a:srgbClr val="087F8C"/>
                </a:solidFill>
                <a:latin typeface="Arial"/>
                <a:ea typeface="Arial"/>
                <a:cs typeface="Arial"/>
              </a:defRPr>
            </a:lvl1pPr>
            <a:lvl2pPr>
              <a:defRPr sz="2475" b="1">
                <a:solidFill>
                  <a:srgbClr val="087F8C"/>
                </a:solidFill>
                <a:latin typeface="Arial"/>
                <a:ea typeface="Arial"/>
                <a:cs typeface="Arial"/>
              </a:defRPr>
            </a:lvl2pPr>
            <a:lvl3pPr>
              <a:defRPr sz="2475" b="1">
                <a:solidFill>
                  <a:srgbClr val="087F8C"/>
                </a:solidFill>
                <a:latin typeface="Arial"/>
                <a:ea typeface="Arial"/>
                <a:cs typeface="Arial"/>
              </a:defRPr>
            </a:lvl3pPr>
            <a:lvl4pPr>
              <a:defRPr sz="2475" b="1">
                <a:solidFill>
                  <a:srgbClr val="087F8C"/>
                </a:solidFill>
                <a:latin typeface="Arial"/>
                <a:ea typeface="Arial"/>
                <a:cs typeface="Arial"/>
              </a:defRPr>
            </a:lvl4pPr>
            <a:lvl5pPr>
              <a:defRPr sz="2475" b="1">
                <a:solidFill>
                  <a:srgbClr val="087F8C"/>
                </a:solidFill>
                <a:latin typeface="Arial"/>
                <a:ea typeface="Arial"/>
                <a:cs typeface="Arial"/>
              </a:defRPr>
            </a:lvl5pPr>
            <a:lvl6pPr>
              <a:defRPr sz="2475" b="1">
                <a:solidFill>
                  <a:srgbClr val="087F8C"/>
                </a:solidFill>
                <a:latin typeface="Arial"/>
                <a:ea typeface="Arial"/>
                <a:cs typeface="Arial"/>
              </a:defRPr>
            </a:lvl6pPr>
            <a:lvl7pPr>
              <a:defRPr sz="2475" b="1">
                <a:solidFill>
                  <a:srgbClr val="087F8C"/>
                </a:solidFill>
                <a:latin typeface="Arial"/>
                <a:ea typeface="Arial"/>
                <a:cs typeface="Arial"/>
              </a:defRPr>
            </a:lvl7pPr>
            <a:lvl8pPr>
              <a:defRPr sz="2475" b="1">
                <a:solidFill>
                  <a:srgbClr val="087F8C"/>
                </a:solidFill>
                <a:latin typeface="Arial"/>
                <a:ea typeface="Arial"/>
                <a:cs typeface="Arial"/>
              </a:defRPr>
            </a:lvl8pPr>
            <a:lvl9pPr>
              <a:defRPr sz="2475" b="1">
                <a:solidFill>
                  <a:srgbClr val="087F8C"/>
                </a:solidFill>
                <a:latin typeface="Arial"/>
                <a:ea typeface="Arial"/>
                <a:cs typeface="Arial"/>
              </a:defRPr>
            </a:lvl9pPr>
          </a:lstStyle>
          <a:p xmlns:a="http://schemas.openxmlformats.org/drawingml/2006/main">
            <a:pPr>
              <a:defRPr sz="2475" b="1">
                <a:solidFill>
                  <a:srgbClr val="087F8C"/>
                </a:solidFill>
                <a:latin typeface="Arial"/>
                <a:ea typeface="Arial"/>
                <a:cs typeface="Arial"/>
              </a:defRPr>
            </a:pPr>
            <a:r>
              <a:rPr sz="2475" b="1">
                <a:solidFill>
                  <a:srgbClr val="087F8C"/>
                </a:solidFill>
                <a:latin typeface="Arial"/>
                <a:ea typeface="Arial"/>
                <a:cs typeface="Arial"/>
              </a:rPr>
              <a:t>Problem: How can an owner share useful insights with controlled access?</a:t>
            </a:r>
          </a:p>
        </p:txBody>
      </p:sp>
    </p:spTree>
    <p:extLst>
      <p:ext uri="{BB962C8B-B14F-4D97-AF65-F5344CB8AC3E}">
        <p14:creationId xmlns:p14="http://schemas.microsoft.com/office/powerpoint/2010/main" val="16331400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AE408F-CFBC-43B2-A066-20F41252E8F8}"/>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645C37AC-7FCC-4D57-A54F-AE6426EE4D9A}"/>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A87BF09C-5B10-4A3A-8021-14731648528F}"/>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03 / 10</a:t>
            </a:r>
          </a:p>
        </p:txBody>
      </p:sp>
      <p:sp>
        <p:nvSpPr>
          <p:cNvPr id="4" name="">
            <a:extLst xmlns:a="http://schemas.openxmlformats.org/drawingml/2006/main">
              <a:ext uri="{FF2B5EF4-FFF2-40B4-BE49-F238E27FC236}">
                <a16:creationId xmlns:a16="http://schemas.microsoft.com/office/drawing/2014/main" id="{0E924373-E167-4008-99EA-B08789232937}"/>
              </a:ext>
            </a:extLst>
          </p:cNvPr>
          <p:cNvSpPr>
            <a:spLocks xmlns:a="http://schemas.openxmlformats.org/drawingml/2006/main" noGrp="1"/>
          </p:cNvSpPr>
          <p:nvPr/>
        </p:nvSpPr>
        <p:spPr>
          <a:xfrm xmlns:a="http://schemas.openxmlformats.org/drawingml/2006/main">
            <a:off x="666750" y="162877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01  Protect input</a:t>
            </a:r>
          </a:p>
        </p:txBody>
      </p:sp>
      <p:sp>
        <p:nvSpPr>
          <p:cNvPr id="5" name="">
            <a:extLst xmlns:a="http://schemas.openxmlformats.org/drawingml/2006/main">
              <a:ext uri="{FF2B5EF4-FFF2-40B4-BE49-F238E27FC236}">
                <a16:creationId xmlns:a16="http://schemas.microsoft.com/office/drawing/2014/main" id="{23662FC2-960C-4C15-A6CB-55B3556D08F0}"/>
              </a:ext>
            </a:extLst>
          </p:cNvPr>
          <p:cNvSpPr>
            <a:spLocks xmlns:a="http://schemas.openxmlformats.org/drawingml/2006/main" noGrp="1"/>
          </p:cNvSpPr>
          <p:nvPr/>
        </p:nvSpPr>
        <p:spPr>
          <a:xfrm xmlns:a="http://schemas.openxmlformats.org/drawingml/2006/main">
            <a:off x="3810000" y="1628775"/>
            <a:ext cx="752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Verify signed sensor packets and reject tampering, stale data and replay.</a:t>
            </a:r>
          </a:p>
        </p:txBody>
      </p:sp>
      <p:sp>
        <p:nvSpPr>
          <p:cNvPr id="6" name="">
            <a:extLst xmlns:a="http://schemas.openxmlformats.org/drawingml/2006/main">
              <a:ext uri="{FF2B5EF4-FFF2-40B4-BE49-F238E27FC236}">
                <a16:creationId xmlns:a16="http://schemas.microsoft.com/office/drawing/2014/main" id="{A2A192DA-B7D2-428F-96DE-4167EE29BA3E}"/>
              </a:ext>
            </a:extLst>
          </p:cNvPr>
          <p:cNvSpPr>
            <a:spLocks xmlns:a="http://schemas.openxmlformats.org/drawingml/2006/main" noGrp="1"/>
          </p:cNvSpPr>
          <p:nvPr/>
        </p:nvSpPr>
        <p:spPr>
          <a:xfrm xmlns:a="http://schemas.openxmlformats.org/drawingml/2006/main">
            <a:off x="666750" y="271462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02  Detect anomalies</a:t>
            </a:r>
          </a:p>
        </p:txBody>
      </p:sp>
      <p:sp>
        <p:nvSpPr>
          <p:cNvPr id="7" name="">
            <a:extLst xmlns:a="http://schemas.openxmlformats.org/drawingml/2006/main">
              <a:ext uri="{FF2B5EF4-FFF2-40B4-BE49-F238E27FC236}">
                <a16:creationId xmlns:a16="http://schemas.microsoft.com/office/drawing/2014/main" id="{CB107CB7-E949-4E53-B5F3-3D11CB1D4779}"/>
              </a:ext>
            </a:extLst>
          </p:cNvPr>
          <p:cNvSpPr>
            <a:spLocks xmlns:a="http://schemas.openxmlformats.org/drawingml/2006/main" noGrp="1"/>
          </p:cNvSpPr>
          <p:nvPr/>
        </p:nvSpPr>
        <p:spPr>
          <a:xfrm xmlns:a="http://schemas.openxmlformats.org/drawingml/2006/main">
            <a:off x="3810000" y="2714625"/>
            <a:ext cx="752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Run a local Isolation Forest model on synthetic machine readings.</a:t>
            </a:r>
          </a:p>
        </p:txBody>
      </p:sp>
      <p:sp>
        <p:nvSpPr>
          <p:cNvPr id="8" name="">
            <a:extLst xmlns:a="http://schemas.openxmlformats.org/drawingml/2006/main">
              <a:ext uri="{FF2B5EF4-FFF2-40B4-BE49-F238E27FC236}">
                <a16:creationId xmlns:a16="http://schemas.microsoft.com/office/drawing/2014/main" id="{763F65DF-3794-4742-B149-75FA21EB16C9}"/>
              </a:ext>
            </a:extLst>
          </p:cNvPr>
          <p:cNvSpPr>
            <a:spLocks xmlns:a="http://schemas.openxmlformats.org/drawingml/2006/main" noGrp="1"/>
          </p:cNvSpPr>
          <p:nvPr/>
        </p:nvSpPr>
        <p:spPr>
          <a:xfrm xmlns:a="http://schemas.openxmlformats.org/drawingml/2006/main">
            <a:off x="666750" y="380047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03  Control access</a:t>
            </a:r>
          </a:p>
        </p:txBody>
      </p:sp>
      <p:sp>
        <p:nvSpPr>
          <p:cNvPr id="9" name="">
            <a:extLst xmlns:a="http://schemas.openxmlformats.org/drawingml/2006/main">
              <a:ext uri="{FF2B5EF4-FFF2-40B4-BE49-F238E27FC236}">
                <a16:creationId xmlns:a16="http://schemas.microsoft.com/office/drawing/2014/main" id="{07FE75DB-D5FA-4405-99CB-3AECA49EB5DE}"/>
              </a:ext>
            </a:extLst>
          </p:cNvPr>
          <p:cNvSpPr>
            <a:spLocks xmlns:a="http://schemas.openxmlformats.org/drawingml/2006/main" noGrp="1"/>
          </p:cNvSpPr>
          <p:nvPr/>
        </p:nvSpPr>
        <p:spPr>
          <a:xfrm xmlns:a="http://schemas.openxmlformats.org/drawingml/2006/main">
            <a:off x="3810000" y="3800475"/>
            <a:ext cx="752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Record expiring owner grants and revocations in a permission blockchain.</a:t>
            </a:r>
          </a:p>
        </p:txBody>
      </p:sp>
      <p:sp>
        <p:nvSpPr>
          <p:cNvPr id="10" name="">
            <a:extLst xmlns:a="http://schemas.openxmlformats.org/drawingml/2006/main">
              <a:ext uri="{FF2B5EF4-FFF2-40B4-BE49-F238E27FC236}">
                <a16:creationId xmlns:a16="http://schemas.microsoft.com/office/drawing/2014/main" id="{12A61578-3F3C-490D-85A1-FE39B75CE788}"/>
              </a:ext>
            </a:extLst>
          </p:cNvPr>
          <p:cNvSpPr>
            <a:spLocks xmlns:a="http://schemas.openxmlformats.org/drawingml/2006/main" noGrp="1"/>
          </p:cNvSpPr>
          <p:nvPr/>
        </p:nvSpPr>
        <p:spPr>
          <a:xfrm xmlns:a="http://schemas.openxmlformats.org/drawingml/2006/main">
            <a:off x="666750" y="4886325"/>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04  Limit disclosure</a:t>
            </a:r>
          </a:p>
        </p:txBody>
      </p:sp>
      <p:sp>
        <p:nvSpPr>
          <p:cNvPr id="11" name="">
            <a:extLst xmlns:a="http://schemas.openxmlformats.org/drawingml/2006/main">
              <a:ext uri="{FF2B5EF4-FFF2-40B4-BE49-F238E27FC236}">
                <a16:creationId xmlns:a16="http://schemas.microsoft.com/office/drawing/2014/main" id="{3073D602-CBE7-4C7A-8610-4F1D20A1E8D4}"/>
              </a:ext>
            </a:extLst>
          </p:cNvPr>
          <p:cNvSpPr>
            <a:spLocks xmlns:a="http://schemas.openxmlformats.org/drawingml/2006/main" noGrp="1"/>
          </p:cNvSpPr>
          <p:nvPr/>
        </p:nvSpPr>
        <p:spPr>
          <a:xfrm xmlns:a="http://schemas.openxmlformats.org/drawingml/2006/main">
            <a:off x="3810000" y="4886325"/>
            <a:ext cx="752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Encrypt only the five approved insight fields for the intended reader.</a:t>
            </a:r>
          </a:p>
        </p:txBody>
      </p:sp>
    </p:spTree>
    <p:extLst>
      <p:ext uri="{BB962C8B-B14F-4D97-AF65-F5344CB8AC3E}">
        <p14:creationId xmlns:p14="http://schemas.microsoft.com/office/powerpoint/2010/main" val="11311617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ACBB58-6C9D-47AB-95BC-59F90227B428}"/>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DBD956A5-FFD2-4163-BFAC-217A40CA21D1}"/>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6E656A8C-85CC-42B5-B0DA-CFE59712C426}"/>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04 / 10</a:t>
            </a:r>
          </a:p>
        </p:txBody>
      </p:sp>
      <p:pic>
        <p:nvPicPr>
          <p:cNvPr id="4" name="">
            <a:extLst xmlns:a="http://schemas.openxmlformats.org/drawingml/2006/main">
              <a:ext uri="{FF2B5EF4-FFF2-40B4-BE49-F238E27FC236}">
                <a16:creationId xmlns:a16="http://schemas.microsoft.com/office/drawing/2014/main" id="{9A322778-D5E3-4BF0-9C68-BBDE6ADAE957}"/>
              </a:ext>
            </a:extLst>
          </p:cNvPr>
          <p:cNvPicPr>
            <a:picLocks xmlns:a="http://schemas.openxmlformats.org/drawingml/2006/main" noChangeAspect="1"/>
          </p:cNvPicPr>
          <p:nvPr/>
        </p:nvPicPr>
        <p:blipFill>
          <a:blip xmlns:r="http://schemas.openxmlformats.org/officeDocument/2006/relationships" xmlns:a="http://schemas.openxmlformats.org/drawingml/2006/main" r:embed="R2602bd8e07f24e2f"/>
          <a:stretch xmlns:a="http://schemas.openxmlformats.org/drawingml/2006/main"/>
        </p:blipFill>
        <p:spPr>
          <a:xfrm xmlns:a="http://schemas.openxmlformats.org/drawingml/2006/main">
            <a:off x="2131492" y="1400175"/>
            <a:ext cx="7929015" cy="4457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6E82A8-5B4B-4075-B39D-077907B14DE9}"/>
              </a:ext>
            </a:extLst>
          </p:cNvPr>
          <p:cNvSpPr>
            <a:spLocks xmlns:a="http://schemas.openxmlformats.org/drawingml/2006/main" noGrp="1"/>
          </p:cNvSpPr>
          <p:nvPr/>
        </p:nvSpPr>
        <p:spPr>
          <a:xfrm xmlns:a="http://schemas.openxmlformats.org/drawingml/2006/main">
            <a:off x="666750" y="59531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087F8C"/>
                </a:solidFill>
                <a:latin typeface="Arial"/>
                <a:ea typeface="Arial"/>
                <a:cs typeface="Arial"/>
              </a:defRPr>
            </a:defPPr>
            <a:lvl1pPr>
              <a:defRPr sz="1800" b="1">
                <a:solidFill>
                  <a:srgbClr val="087F8C"/>
                </a:solidFill>
                <a:latin typeface="Arial"/>
                <a:ea typeface="Arial"/>
                <a:cs typeface="Arial"/>
              </a:defRPr>
            </a:lvl1pPr>
            <a:lvl2pPr>
              <a:defRPr sz="1800" b="1">
                <a:solidFill>
                  <a:srgbClr val="087F8C"/>
                </a:solidFill>
                <a:latin typeface="Arial"/>
                <a:ea typeface="Arial"/>
                <a:cs typeface="Arial"/>
              </a:defRPr>
            </a:lvl2pPr>
            <a:lvl3pPr>
              <a:defRPr sz="1800" b="1">
                <a:solidFill>
                  <a:srgbClr val="087F8C"/>
                </a:solidFill>
                <a:latin typeface="Arial"/>
                <a:ea typeface="Arial"/>
                <a:cs typeface="Arial"/>
              </a:defRPr>
            </a:lvl3pPr>
            <a:lvl4pPr>
              <a:defRPr sz="1800" b="1">
                <a:solidFill>
                  <a:srgbClr val="087F8C"/>
                </a:solidFill>
                <a:latin typeface="Arial"/>
                <a:ea typeface="Arial"/>
                <a:cs typeface="Arial"/>
              </a:defRPr>
            </a:lvl4pPr>
            <a:lvl5pPr>
              <a:defRPr sz="1800" b="1">
                <a:solidFill>
                  <a:srgbClr val="087F8C"/>
                </a:solidFill>
                <a:latin typeface="Arial"/>
                <a:ea typeface="Arial"/>
                <a:cs typeface="Arial"/>
              </a:defRPr>
            </a:lvl5pPr>
            <a:lvl6pPr>
              <a:defRPr sz="1800" b="1">
                <a:solidFill>
                  <a:srgbClr val="087F8C"/>
                </a:solidFill>
                <a:latin typeface="Arial"/>
                <a:ea typeface="Arial"/>
                <a:cs typeface="Arial"/>
              </a:defRPr>
            </a:lvl6pPr>
            <a:lvl7pPr>
              <a:defRPr sz="1800" b="1">
                <a:solidFill>
                  <a:srgbClr val="087F8C"/>
                </a:solidFill>
                <a:latin typeface="Arial"/>
                <a:ea typeface="Arial"/>
                <a:cs typeface="Arial"/>
              </a:defRPr>
            </a:lvl7pPr>
            <a:lvl8pPr>
              <a:defRPr sz="1800" b="1">
                <a:solidFill>
                  <a:srgbClr val="087F8C"/>
                </a:solidFill>
                <a:latin typeface="Arial"/>
                <a:ea typeface="Arial"/>
                <a:cs typeface="Arial"/>
              </a:defRPr>
            </a:lvl8pPr>
            <a:lvl9pPr>
              <a:defRPr sz="1800" b="1">
                <a:solidFill>
                  <a:srgbClr val="087F8C"/>
                </a:solidFill>
                <a:latin typeface="Arial"/>
                <a:ea typeface="Arial"/>
                <a:cs typeface="Arial"/>
              </a:defRPr>
            </a:lvl9pPr>
          </a:lstStyle>
          <a:p xmlns:a="http://schemas.openxmlformats.org/drawingml/2006/main">
            <a:pPr>
              <a:defRPr sz="1800" b="1">
                <a:solidFill>
                  <a:srgbClr val="087F8C"/>
                </a:solidFill>
                <a:latin typeface="Arial"/>
                <a:ea typeface="Arial"/>
                <a:cs typeface="Arial"/>
              </a:defRPr>
            </a:pPr>
            <a:r>
              <a:rPr sz="1800" b="1">
                <a:solidFill>
                  <a:srgbClr val="087F8C"/>
                </a:solidFill>
                <a:latin typeface="Arial"/>
                <a:ea typeface="Arial"/>
                <a:cs typeface="Arial"/>
              </a:rPr>
              <a:t>Current MVP: one simulated sensor, one trusted gateway, one local validator</a:t>
            </a:r>
          </a:p>
        </p:txBody>
      </p:sp>
    </p:spTree>
    <p:extLst>
      <p:ext uri="{BB962C8B-B14F-4D97-AF65-F5344CB8AC3E}">
        <p14:creationId xmlns:p14="http://schemas.microsoft.com/office/powerpoint/2010/main" val="20988548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1FFB7D-491C-4BF7-BFC8-361488198C77}"/>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Working methodology</a:t>
            </a:r>
          </a:p>
        </p:txBody>
      </p:sp>
      <p:sp>
        <p:nvSpPr>
          <p:cNvPr id="2" name="">
            <a:extLst xmlns:a="http://schemas.openxmlformats.org/drawingml/2006/main">
              <a:ext uri="{FF2B5EF4-FFF2-40B4-BE49-F238E27FC236}">
                <a16:creationId xmlns:a16="http://schemas.microsoft.com/office/drawing/2014/main" id="{4F64E846-F8B5-4E5A-81ED-2FF27B4341AC}"/>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28C0AED1-39B0-40EF-B22E-D30A2730C786}"/>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05 / 10</a:t>
            </a:r>
          </a:p>
        </p:txBody>
      </p:sp>
      <p:sp>
        <p:nvSpPr>
          <p:cNvPr id="4" name="">
            <a:extLst xmlns:a="http://schemas.openxmlformats.org/drawingml/2006/main">
              <a:ext uri="{FF2B5EF4-FFF2-40B4-BE49-F238E27FC236}">
                <a16:creationId xmlns:a16="http://schemas.microsoft.com/office/drawing/2014/main" id="{08BBAF52-1CE2-4C59-B97F-373D63B81007}"/>
              </a:ext>
            </a:extLst>
          </p:cNvPr>
          <p:cNvSpPr>
            <a:spLocks xmlns:a="http://schemas.openxmlformats.org/drawingml/2006/main" noGrp="1"/>
          </p:cNvSpPr>
          <p:nvPr/>
        </p:nvSpPr>
        <p:spPr>
          <a:xfrm xmlns:a="http://schemas.openxmlformats.org/drawingml/2006/main">
            <a:off x="666750" y="15430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1. Register and verify</a:t>
            </a:r>
          </a:p>
        </p:txBody>
      </p:sp>
      <p:sp>
        <p:nvSpPr>
          <p:cNvPr id="5" name="">
            <a:extLst xmlns:a="http://schemas.openxmlformats.org/drawingml/2006/main">
              <a:ext uri="{FF2B5EF4-FFF2-40B4-BE49-F238E27FC236}">
                <a16:creationId xmlns:a16="http://schemas.microsoft.com/office/drawing/2014/main" id="{DE9AAFE5-82A8-433F-A04E-F4337075BD2F}"/>
              </a:ext>
            </a:extLst>
          </p:cNvPr>
          <p:cNvSpPr>
            <a:spLocks xmlns:a="http://schemas.openxmlformats.org/drawingml/2006/main" noGrp="1"/>
          </p:cNvSpPr>
          <p:nvPr/>
        </p:nvSpPr>
        <p:spPr>
          <a:xfrm xmlns:a="http://schemas.openxmlformats.org/drawingml/2006/main">
            <a:off x="4667250" y="1543050"/>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2344B"/>
                </a:solidFill>
                <a:latin typeface="Arial"/>
                <a:ea typeface="Arial"/>
                <a:cs typeface="Arial"/>
              </a:defRPr>
            </a:defPPr>
            <a:lvl1pPr>
              <a:defRPr sz="2025" b="0">
                <a:solidFill>
                  <a:srgbClr val="22344B"/>
                </a:solidFill>
                <a:latin typeface="Arial"/>
                <a:ea typeface="Arial"/>
                <a:cs typeface="Arial"/>
              </a:defRPr>
            </a:lvl1pPr>
            <a:lvl2pPr>
              <a:defRPr sz="2025" b="0">
                <a:solidFill>
                  <a:srgbClr val="22344B"/>
                </a:solidFill>
                <a:latin typeface="Arial"/>
                <a:ea typeface="Arial"/>
                <a:cs typeface="Arial"/>
              </a:defRPr>
            </a:lvl2pPr>
            <a:lvl3pPr>
              <a:defRPr sz="2025" b="0">
                <a:solidFill>
                  <a:srgbClr val="22344B"/>
                </a:solidFill>
                <a:latin typeface="Arial"/>
                <a:ea typeface="Arial"/>
                <a:cs typeface="Arial"/>
              </a:defRPr>
            </a:lvl3pPr>
            <a:lvl4pPr>
              <a:defRPr sz="2025" b="0">
                <a:solidFill>
                  <a:srgbClr val="22344B"/>
                </a:solidFill>
                <a:latin typeface="Arial"/>
                <a:ea typeface="Arial"/>
                <a:cs typeface="Arial"/>
              </a:defRPr>
            </a:lvl4pPr>
            <a:lvl5pPr>
              <a:defRPr sz="2025" b="0">
                <a:solidFill>
                  <a:srgbClr val="22344B"/>
                </a:solidFill>
                <a:latin typeface="Arial"/>
                <a:ea typeface="Arial"/>
                <a:cs typeface="Arial"/>
              </a:defRPr>
            </a:lvl5pPr>
            <a:lvl6pPr>
              <a:defRPr sz="2025" b="0">
                <a:solidFill>
                  <a:srgbClr val="22344B"/>
                </a:solidFill>
                <a:latin typeface="Arial"/>
                <a:ea typeface="Arial"/>
                <a:cs typeface="Arial"/>
              </a:defRPr>
            </a:lvl6pPr>
            <a:lvl7pPr>
              <a:defRPr sz="2025" b="0">
                <a:solidFill>
                  <a:srgbClr val="22344B"/>
                </a:solidFill>
                <a:latin typeface="Arial"/>
                <a:ea typeface="Arial"/>
                <a:cs typeface="Arial"/>
              </a:defRPr>
            </a:lvl7pPr>
            <a:lvl8pPr>
              <a:defRPr sz="2025" b="0">
                <a:solidFill>
                  <a:srgbClr val="22344B"/>
                </a:solidFill>
                <a:latin typeface="Arial"/>
                <a:ea typeface="Arial"/>
                <a:cs typeface="Arial"/>
              </a:defRPr>
            </a:lvl8pPr>
            <a:lvl9pPr>
              <a:defRPr sz="2025" b="0">
                <a:solidFill>
                  <a:srgbClr val="22344B"/>
                </a:solidFill>
                <a:latin typeface="Arial"/>
                <a:ea typeface="Arial"/>
                <a:cs typeface="Arial"/>
              </a:defRPr>
            </a:lvl9pPr>
          </a:lstStyle>
          <a:p xmlns:a="http://schemas.openxmlformats.org/drawingml/2006/main">
            <a:pPr>
              <a:defRPr sz="2025" b="0">
                <a:solidFill>
                  <a:srgbClr val="22344B"/>
                </a:solidFill>
                <a:latin typeface="Arial"/>
                <a:ea typeface="Arial"/>
                <a:cs typeface="Arial"/>
              </a:defRPr>
            </a:pPr>
            <a:r>
              <a:rPr sz="2025" b="0">
                <a:solidFill>
                  <a:srgbClr val="22344B"/>
                </a:solidFill>
                <a:latin typeface="Arial"/>
                <a:ea typeface="Arial"/>
                <a:cs typeface="Arial"/>
              </a:rPr>
              <a:t>Owner registers equipment. Gateway checks each packet’s signature, schema, timestamp and sequence.</a:t>
            </a:r>
          </a:p>
        </p:txBody>
      </p:sp>
      <p:sp>
        <p:nvSpPr>
          <p:cNvPr id="6" name="">
            <a:extLst xmlns:a="http://schemas.openxmlformats.org/drawingml/2006/main">
              <a:ext uri="{FF2B5EF4-FFF2-40B4-BE49-F238E27FC236}">
                <a16:creationId xmlns:a16="http://schemas.microsoft.com/office/drawing/2014/main" id="{636A9E8C-66ED-4A83-93EC-7F44B6B5A6E5}"/>
              </a:ext>
            </a:extLst>
          </p:cNvPr>
          <p:cNvSpPr>
            <a:spLocks xmlns:a="http://schemas.openxmlformats.org/drawingml/2006/main" noGrp="1"/>
          </p:cNvSpPr>
          <p:nvPr/>
        </p:nvSpPr>
        <p:spPr>
          <a:xfrm xmlns:a="http://schemas.openxmlformats.org/drawingml/2006/main">
            <a:off x="666750" y="2676525"/>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2. Store and classify</a:t>
            </a:r>
          </a:p>
        </p:txBody>
      </p:sp>
      <p:sp>
        <p:nvSpPr>
          <p:cNvPr id="7" name="">
            <a:extLst xmlns:a="http://schemas.openxmlformats.org/drawingml/2006/main">
              <a:ext uri="{FF2B5EF4-FFF2-40B4-BE49-F238E27FC236}">
                <a16:creationId xmlns:a16="http://schemas.microsoft.com/office/drawing/2014/main" id="{2300AF58-6732-4C30-8CEF-E255B05D76D2}"/>
              </a:ext>
            </a:extLst>
          </p:cNvPr>
          <p:cNvSpPr>
            <a:spLocks xmlns:a="http://schemas.openxmlformats.org/drawingml/2006/main" noGrp="1"/>
          </p:cNvSpPr>
          <p:nvPr/>
        </p:nvSpPr>
        <p:spPr>
          <a:xfrm xmlns:a="http://schemas.openxmlformats.org/drawingml/2006/main">
            <a:off x="4667250" y="2676525"/>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2344B"/>
                </a:solidFill>
                <a:latin typeface="Arial"/>
                <a:ea typeface="Arial"/>
                <a:cs typeface="Arial"/>
              </a:defRPr>
            </a:defPPr>
            <a:lvl1pPr>
              <a:defRPr sz="2025" b="0">
                <a:solidFill>
                  <a:srgbClr val="22344B"/>
                </a:solidFill>
                <a:latin typeface="Arial"/>
                <a:ea typeface="Arial"/>
                <a:cs typeface="Arial"/>
              </a:defRPr>
            </a:lvl1pPr>
            <a:lvl2pPr>
              <a:defRPr sz="2025" b="0">
                <a:solidFill>
                  <a:srgbClr val="22344B"/>
                </a:solidFill>
                <a:latin typeface="Arial"/>
                <a:ea typeface="Arial"/>
                <a:cs typeface="Arial"/>
              </a:defRPr>
            </a:lvl2pPr>
            <a:lvl3pPr>
              <a:defRPr sz="2025" b="0">
                <a:solidFill>
                  <a:srgbClr val="22344B"/>
                </a:solidFill>
                <a:latin typeface="Arial"/>
                <a:ea typeface="Arial"/>
                <a:cs typeface="Arial"/>
              </a:defRPr>
            </a:lvl3pPr>
            <a:lvl4pPr>
              <a:defRPr sz="2025" b="0">
                <a:solidFill>
                  <a:srgbClr val="22344B"/>
                </a:solidFill>
                <a:latin typeface="Arial"/>
                <a:ea typeface="Arial"/>
                <a:cs typeface="Arial"/>
              </a:defRPr>
            </a:lvl4pPr>
            <a:lvl5pPr>
              <a:defRPr sz="2025" b="0">
                <a:solidFill>
                  <a:srgbClr val="22344B"/>
                </a:solidFill>
                <a:latin typeface="Arial"/>
                <a:ea typeface="Arial"/>
                <a:cs typeface="Arial"/>
              </a:defRPr>
            </a:lvl5pPr>
            <a:lvl6pPr>
              <a:defRPr sz="2025" b="0">
                <a:solidFill>
                  <a:srgbClr val="22344B"/>
                </a:solidFill>
                <a:latin typeface="Arial"/>
                <a:ea typeface="Arial"/>
                <a:cs typeface="Arial"/>
              </a:defRPr>
            </a:lvl6pPr>
            <a:lvl7pPr>
              <a:defRPr sz="2025" b="0">
                <a:solidFill>
                  <a:srgbClr val="22344B"/>
                </a:solidFill>
                <a:latin typeface="Arial"/>
                <a:ea typeface="Arial"/>
                <a:cs typeface="Arial"/>
              </a:defRPr>
            </a:lvl7pPr>
            <a:lvl8pPr>
              <a:defRPr sz="2025" b="0">
                <a:solidFill>
                  <a:srgbClr val="22344B"/>
                </a:solidFill>
                <a:latin typeface="Arial"/>
                <a:ea typeface="Arial"/>
                <a:cs typeface="Arial"/>
              </a:defRPr>
            </a:lvl8pPr>
            <a:lvl9pPr>
              <a:defRPr sz="2025" b="0">
                <a:solidFill>
                  <a:srgbClr val="22344B"/>
                </a:solidFill>
                <a:latin typeface="Arial"/>
                <a:ea typeface="Arial"/>
                <a:cs typeface="Arial"/>
              </a:defRPr>
            </a:lvl9pPr>
          </a:lstStyle>
          <a:p xmlns:a="http://schemas.openxmlformats.org/drawingml/2006/main">
            <a:pPr>
              <a:defRPr sz="2025" b="0">
                <a:solidFill>
                  <a:srgbClr val="22344B"/>
                </a:solidFill>
                <a:latin typeface="Arial"/>
                <a:ea typeface="Arial"/>
                <a:cs typeface="Arial"/>
              </a:defRPr>
            </a:pPr>
            <a:r>
              <a:rPr sz="2025" b="0">
                <a:solidFill>
                  <a:srgbClr val="22344B"/>
                </a:solidFill>
                <a:latin typeface="Arial"/>
                <a:ea typeface="Arial"/>
                <a:cs typeface="Arial"/>
              </a:rPr>
              <a:t>Gateway encrypts the raw reading, then applies local anomaly detection.</a:t>
            </a:r>
          </a:p>
        </p:txBody>
      </p:sp>
      <p:sp>
        <p:nvSpPr>
          <p:cNvPr id="8" name="">
            <a:extLst xmlns:a="http://schemas.openxmlformats.org/drawingml/2006/main">
              <a:ext uri="{FF2B5EF4-FFF2-40B4-BE49-F238E27FC236}">
                <a16:creationId xmlns:a16="http://schemas.microsoft.com/office/drawing/2014/main" id="{BAE93BF0-9AE3-4335-A364-5B60D18914CE}"/>
              </a:ext>
            </a:extLst>
          </p:cNvPr>
          <p:cNvSpPr>
            <a:spLocks xmlns:a="http://schemas.openxmlformats.org/drawingml/2006/main" noGrp="1"/>
          </p:cNvSpPr>
          <p:nvPr/>
        </p:nvSpPr>
        <p:spPr>
          <a:xfrm xmlns:a="http://schemas.openxmlformats.org/drawingml/2006/main">
            <a:off x="666750" y="38100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3. Authorize and encrypt</a:t>
            </a:r>
          </a:p>
        </p:txBody>
      </p:sp>
      <p:sp>
        <p:nvSpPr>
          <p:cNvPr id="9" name="">
            <a:extLst xmlns:a="http://schemas.openxmlformats.org/drawingml/2006/main">
              <a:ext uri="{FF2B5EF4-FFF2-40B4-BE49-F238E27FC236}">
                <a16:creationId xmlns:a16="http://schemas.microsoft.com/office/drawing/2014/main" id="{E5864BE5-0A08-4045-8D4E-1D3D0141DDC8}"/>
              </a:ext>
            </a:extLst>
          </p:cNvPr>
          <p:cNvSpPr>
            <a:spLocks xmlns:a="http://schemas.openxmlformats.org/drawingml/2006/main" noGrp="1"/>
          </p:cNvSpPr>
          <p:nvPr/>
        </p:nvSpPr>
        <p:spPr>
          <a:xfrm xmlns:a="http://schemas.openxmlformats.org/drawingml/2006/main">
            <a:off x="4667250" y="3810000"/>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2344B"/>
                </a:solidFill>
                <a:latin typeface="Arial"/>
                <a:ea typeface="Arial"/>
                <a:cs typeface="Arial"/>
              </a:defRPr>
            </a:defPPr>
            <a:lvl1pPr>
              <a:defRPr sz="2025" b="0">
                <a:solidFill>
                  <a:srgbClr val="22344B"/>
                </a:solidFill>
                <a:latin typeface="Arial"/>
                <a:ea typeface="Arial"/>
                <a:cs typeface="Arial"/>
              </a:defRPr>
            </a:lvl1pPr>
            <a:lvl2pPr>
              <a:defRPr sz="2025" b="0">
                <a:solidFill>
                  <a:srgbClr val="22344B"/>
                </a:solidFill>
                <a:latin typeface="Arial"/>
                <a:ea typeface="Arial"/>
                <a:cs typeface="Arial"/>
              </a:defRPr>
            </a:lvl2pPr>
            <a:lvl3pPr>
              <a:defRPr sz="2025" b="0">
                <a:solidFill>
                  <a:srgbClr val="22344B"/>
                </a:solidFill>
                <a:latin typeface="Arial"/>
                <a:ea typeface="Arial"/>
                <a:cs typeface="Arial"/>
              </a:defRPr>
            </a:lvl3pPr>
            <a:lvl4pPr>
              <a:defRPr sz="2025" b="0">
                <a:solidFill>
                  <a:srgbClr val="22344B"/>
                </a:solidFill>
                <a:latin typeface="Arial"/>
                <a:ea typeface="Arial"/>
                <a:cs typeface="Arial"/>
              </a:defRPr>
            </a:lvl4pPr>
            <a:lvl5pPr>
              <a:defRPr sz="2025" b="0">
                <a:solidFill>
                  <a:srgbClr val="22344B"/>
                </a:solidFill>
                <a:latin typeface="Arial"/>
                <a:ea typeface="Arial"/>
                <a:cs typeface="Arial"/>
              </a:defRPr>
            </a:lvl5pPr>
            <a:lvl6pPr>
              <a:defRPr sz="2025" b="0">
                <a:solidFill>
                  <a:srgbClr val="22344B"/>
                </a:solidFill>
                <a:latin typeface="Arial"/>
                <a:ea typeface="Arial"/>
                <a:cs typeface="Arial"/>
              </a:defRPr>
            </a:lvl6pPr>
            <a:lvl7pPr>
              <a:defRPr sz="2025" b="0">
                <a:solidFill>
                  <a:srgbClr val="22344B"/>
                </a:solidFill>
                <a:latin typeface="Arial"/>
                <a:ea typeface="Arial"/>
                <a:cs typeface="Arial"/>
              </a:defRPr>
            </a:lvl7pPr>
            <a:lvl8pPr>
              <a:defRPr sz="2025" b="0">
                <a:solidFill>
                  <a:srgbClr val="22344B"/>
                </a:solidFill>
                <a:latin typeface="Arial"/>
                <a:ea typeface="Arial"/>
                <a:cs typeface="Arial"/>
              </a:defRPr>
            </a:lvl8pPr>
            <a:lvl9pPr>
              <a:defRPr sz="2025" b="0">
                <a:solidFill>
                  <a:srgbClr val="22344B"/>
                </a:solidFill>
                <a:latin typeface="Arial"/>
                <a:ea typeface="Arial"/>
                <a:cs typeface="Arial"/>
              </a:defRPr>
            </a:lvl9pPr>
          </a:lstStyle>
          <a:p xmlns:a="http://schemas.openxmlformats.org/drawingml/2006/main">
            <a:pPr>
              <a:defRPr sz="2025" b="0">
                <a:solidFill>
                  <a:srgbClr val="22344B"/>
                </a:solidFill>
                <a:latin typeface="Arial"/>
                <a:ea typeface="Arial"/>
                <a:cs typeface="Arial"/>
              </a:defRPr>
            </a:pPr>
            <a:r>
              <a:rPr sz="2025" b="0">
                <a:solidFill>
                  <a:srgbClr val="22344B"/>
                </a:solidFill>
                <a:latin typeface="Arial"/>
                <a:ea typeface="Arial"/>
                <a:cs typeface="Arial"/>
              </a:rPr>
              <a:t>Current ledger permission and fixed output schema control recipient encryption.</a:t>
            </a:r>
          </a:p>
        </p:txBody>
      </p:sp>
      <p:sp>
        <p:nvSpPr>
          <p:cNvPr id="10" name="">
            <a:extLst xmlns:a="http://schemas.openxmlformats.org/drawingml/2006/main">
              <a:ext uri="{FF2B5EF4-FFF2-40B4-BE49-F238E27FC236}">
                <a16:creationId xmlns:a16="http://schemas.microsoft.com/office/drawing/2014/main" id="{BAC4E6F9-D223-4A04-AA76-0165D912A1E1}"/>
              </a:ext>
            </a:extLst>
          </p:cNvPr>
          <p:cNvSpPr>
            <a:spLocks xmlns:a="http://schemas.openxmlformats.org/drawingml/2006/main" noGrp="1"/>
          </p:cNvSpPr>
          <p:nvPr/>
        </p:nvSpPr>
        <p:spPr>
          <a:xfrm xmlns:a="http://schemas.openxmlformats.org/drawingml/2006/main">
            <a:off x="666750" y="4943475"/>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4. Retrieve and revoke</a:t>
            </a:r>
          </a:p>
        </p:txBody>
      </p:sp>
      <p:sp>
        <p:nvSpPr>
          <p:cNvPr id="11" name="">
            <a:extLst xmlns:a="http://schemas.openxmlformats.org/drawingml/2006/main">
              <a:ext uri="{FF2B5EF4-FFF2-40B4-BE49-F238E27FC236}">
                <a16:creationId xmlns:a16="http://schemas.microsoft.com/office/drawing/2014/main" id="{7E653F90-B79D-4E6E-95BD-9B3A8F798F84}"/>
              </a:ext>
            </a:extLst>
          </p:cNvPr>
          <p:cNvSpPr>
            <a:spLocks xmlns:a="http://schemas.openxmlformats.org/drawingml/2006/main" noGrp="1"/>
          </p:cNvSpPr>
          <p:nvPr/>
        </p:nvSpPr>
        <p:spPr>
          <a:xfrm xmlns:a="http://schemas.openxmlformats.org/drawingml/2006/main">
            <a:off x="4667250" y="4943475"/>
            <a:ext cx="6705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2344B"/>
                </a:solidFill>
                <a:latin typeface="Arial"/>
                <a:ea typeface="Arial"/>
                <a:cs typeface="Arial"/>
              </a:defRPr>
            </a:defPPr>
            <a:lvl1pPr>
              <a:defRPr sz="2025" b="0">
                <a:solidFill>
                  <a:srgbClr val="22344B"/>
                </a:solidFill>
                <a:latin typeface="Arial"/>
                <a:ea typeface="Arial"/>
                <a:cs typeface="Arial"/>
              </a:defRPr>
            </a:lvl1pPr>
            <a:lvl2pPr>
              <a:defRPr sz="2025" b="0">
                <a:solidFill>
                  <a:srgbClr val="22344B"/>
                </a:solidFill>
                <a:latin typeface="Arial"/>
                <a:ea typeface="Arial"/>
                <a:cs typeface="Arial"/>
              </a:defRPr>
            </a:lvl2pPr>
            <a:lvl3pPr>
              <a:defRPr sz="2025" b="0">
                <a:solidFill>
                  <a:srgbClr val="22344B"/>
                </a:solidFill>
                <a:latin typeface="Arial"/>
                <a:ea typeface="Arial"/>
                <a:cs typeface="Arial"/>
              </a:defRPr>
            </a:lvl3pPr>
            <a:lvl4pPr>
              <a:defRPr sz="2025" b="0">
                <a:solidFill>
                  <a:srgbClr val="22344B"/>
                </a:solidFill>
                <a:latin typeface="Arial"/>
                <a:ea typeface="Arial"/>
                <a:cs typeface="Arial"/>
              </a:defRPr>
            </a:lvl4pPr>
            <a:lvl5pPr>
              <a:defRPr sz="2025" b="0">
                <a:solidFill>
                  <a:srgbClr val="22344B"/>
                </a:solidFill>
                <a:latin typeface="Arial"/>
                <a:ea typeface="Arial"/>
                <a:cs typeface="Arial"/>
              </a:defRPr>
            </a:lvl5pPr>
            <a:lvl6pPr>
              <a:defRPr sz="2025" b="0">
                <a:solidFill>
                  <a:srgbClr val="22344B"/>
                </a:solidFill>
                <a:latin typeface="Arial"/>
                <a:ea typeface="Arial"/>
                <a:cs typeface="Arial"/>
              </a:defRPr>
            </a:lvl6pPr>
            <a:lvl7pPr>
              <a:defRPr sz="2025" b="0">
                <a:solidFill>
                  <a:srgbClr val="22344B"/>
                </a:solidFill>
                <a:latin typeface="Arial"/>
                <a:ea typeface="Arial"/>
                <a:cs typeface="Arial"/>
              </a:defRPr>
            </a:lvl7pPr>
            <a:lvl8pPr>
              <a:defRPr sz="2025" b="0">
                <a:solidFill>
                  <a:srgbClr val="22344B"/>
                </a:solidFill>
                <a:latin typeface="Arial"/>
                <a:ea typeface="Arial"/>
                <a:cs typeface="Arial"/>
              </a:defRPr>
            </a:lvl8pPr>
            <a:lvl9pPr>
              <a:defRPr sz="2025" b="0">
                <a:solidFill>
                  <a:srgbClr val="22344B"/>
                </a:solidFill>
                <a:latin typeface="Arial"/>
                <a:ea typeface="Arial"/>
                <a:cs typeface="Arial"/>
              </a:defRPr>
            </a:lvl9pPr>
          </a:lstStyle>
          <a:p xmlns:a="http://schemas.openxmlformats.org/drawingml/2006/main">
            <a:pPr>
              <a:defRPr sz="2025" b="0">
                <a:solidFill>
                  <a:srgbClr val="22344B"/>
                </a:solidFill>
                <a:latin typeface="Arial"/>
                <a:ea typeface="Arial"/>
                <a:cs typeface="Arial"/>
              </a:defRPr>
            </a:pPr>
            <a:r>
              <a:rPr sz="2025" b="0">
                <a:solidFill>
                  <a:srgbClr val="22344B"/>
                </a:solidFill>
                <a:latin typeface="Arial"/>
                <a:ea typeface="Arial"/>
                <a:cs typeface="Arial"/>
              </a:rPr>
              <a:t>Reader decrypts locally. A confirmed revocation blocks later release.</a:t>
            </a:r>
          </a:p>
        </p:txBody>
      </p:sp>
    </p:spTree>
    <p:extLst>
      <p:ext uri="{BB962C8B-B14F-4D97-AF65-F5344CB8AC3E}">
        <p14:creationId xmlns:p14="http://schemas.microsoft.com/office/powerpoint/2010/main" val="17306876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2DC098-7D92-4DFF-9AA0-4B48758EC84A}"/>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Privacy and access control</a:t>
            </a:r>
          </a:p>
        </p:txBody>
      </p:sp>
      <p:sp>
        <p:nvSpPr>
          <p:cNvPr id="2" name="">
            <a:extLst xmlns:a="http://schemas.openxmlformats.org/drawingml/2006/main">
              <a:ext uri="{FF2B5EF4-FFF2-40B4-BE49-F238E27FC236}">
                <a16:creationId xmlns:a16="http://schemas.microsoft.com/office/drawing/2014/main" id="{CF480B3F-695C-487A-A607-2EADB830153C}"/>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A404C08F-3FED-4B9C-88C9-838AF13C8C97}"/>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06 / 10</a:t>
            </a:r>
          </a:p>
        </p:txBody>
      </p:sp>
      <p:graphicFrame>
        <p:nvGraphicFramePr>
          <p:cNvPr id="4" name="">
            <a:extLst xmlns:a="http://schemas.openxmlformats.org/drawingml/2006/main">
              <a:ext uri="{FF2B5EF4-FFF2-40B4-BE49-F238E27FC236}">
                <a16:creationId xmlns:a16="http://schemas.microsoft.com/office/drawing/2014/main" id="{B2FC2E78-7A2D-422E-B3B9-4177B28263FE}"/>
              </a:ext>
            </a:extLst>
          </p:cNvPr>
          <p:cNvGraphicFramePr/>
          <p:nvPr/>
        </p:nvGraphicFramePr>
        <p:xfrm>
          <a:off xmlns:a="http://schemas.openxmlformats.org/drawingml/2006/main" x="666750" y="1552575"/>
          <a:ext xmlns:a="http://schemas.openxmlformats.org/drawingml/2006/main" cx="10858500" cy="3324225"/>
        </p:xfrm>
        <a:graphic xmlns:a="http://schemas.openxmlformats.org/drawingml/2006/main">
          <a:graphicData uri="http://schemas.openxmlformats.org/drawingml/2006/table">
            <a:tbl>
              <a:tblPr/>
              <a:tblGrid>
                <a:gridCol w="3429000"/>
                <a:gridCol w="7429500"/>
              </a:tblGrid>
              <a:tr h="554038">
                <a:tc>
                  <a:txBody>
                    <a:bodyPr/>
                    <a:lstStyle/>
                    <a:p>
                      <a:r>
                        <a:rPr sz="1875" b="1">
                          <a:solidFill>
                            <a:srgbClr val="FFFFFF"/>
                          </a:solidFill>
                          <a:latin typeface="Arial"/>
                          <a:ea typeface="Arial"/>
                          <a:cs typeface="Arial"/>
                        </a:rPr>
                        <a:t>Security boundary</a:t>
                      </a:r>
                    </a:p>
                  </a:txBody>
                  <a:tcPr marL="91440" marR="91440" marT="45720" marB="45720">
                    <a:lnL w="9525">
                      <a:solidFill>
                        <a:srgbClr val="CFD9E3"/>
                      </a:solidFill>
                      <a:prstDash val="solid"/>
                    </a:lnL>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1875" b="1">
                          <a:solidFill>
                            <a:srgbClr val="FFFFFF"/>
                          </a:solidFill>
                          <a:latin typeface="Arial"/>
                          <a:ea typeface="Arial"/>
                          <a:cs typeface="Arial"/>
                        </a:rPr>
                        <a:t>Implemented control</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r>
              <a:tr h="554038">
                <a:tc>
                  <a:txBody>
                    <a:bodyPr/>
                    <a:lstStyle/>
                    <a:p>
                      <a:r>
                        <a:rPr sz="1875" b="0">
                          <a:solidFill>
                            <a:srgbClr val="22344B"/>
                          </a:solidFill>
                          <a:latin typeface="Arial"/>
                          <a:ea typeface="Arial"/>
                          <a:cs typeface="Arial"/>
                        </a:rPr>
                        <a:t>Sensor input</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FFFFF"/>
                    </a:solidFill>
                  </a:tcPr>
                </a:tc>
                <a:tc>
                  <a:txBody>
                    <a:bodyPr/>
                    <a:lstStyle/>
                    <a:p>
                      <a:r>
                        <a:rPr sz="1875" b="0">
                          <a:solidFill>
                            <a:srgbClr val="22344B"/>
                          </a:solidFill>
                          <a:latin typeface="Arial"/>
                          <a:ea typeface="Arial"/>
                          <a:cs typeface="Arial"/>
                        </a:rPr>
                        <a:t>Ed25519 signature and durable replay defense</a:t>
                      </a:r>
                    </a:p>
                  </a:txBody>
                  <a:tcPr marL="91440" marR="91440" marT="45720" marB="45720">
                    <a:lnR w="9525">
                      <a:solidFill>
                        <a:srgbClr val="CFD9E3"/>
                      </a:solidFill>
                      <a:prstDash val="solid"/>
                    </a:lnR>
                    <a:lnB w="9525">
                      <a:solidFill>
                        <a:srgbClr val="CFD9E3"/>
                      </a:solidFill>
                      <a:prstDash val="solid"/>
                    </a:lnB>
                    <a:solidFill>
                      <a:srgbClr val="FFFFFF"/>
                    </a:solidFill>
                  </a:tcPr>
                </a:tc>
              </a:tr>
              <a:tr h="554038">
                <a:tc>
                  <a:txBody>
                    <a:bodyPr/>
                    <a:lstStyle/>
                    <a:p>
                      <a:r>
                        <a:rPr sz="1875" b="0">
                          <a:solidFill>
                            <a:srgbClr val="22344B"/>
                          </a:solidFill>
                          <a:latin typeface="Arial"/>
                          <a:ea typeface="Arial"/>
                          <a:cs typeface="Arial"/>
                        </a:rPr>
                        <a:t>Raw data storage</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0F5F9"/>
                    </a:solidFill>
                  </a:tcPr>
                </a:tc>
                <a:tc>
                  <a:txBody>
                    <a:bodyPr/>
                    <a:lstStyle/>
                    <a:p>
                      <a:r>
                        <a:rPr sz="1875" b="0">
                          <a:solidFill>
                            <a:srgbClr val="22344B"/>
                          </a:solidFill>
                          <a:latin typeface="Arial"/>
                          <a:ea typeface="Arial"/>
                          <a:cs typeface="Arial"/>
                        </a:rPr>
                        <a:t>AES-256-GCM payload encryption before SQLite write</a:t>
                      </a:r>
                    </a:p>
                  </a:txBody>
                  <a:tcPr marL="91440" marR="91440" marT="45720" marB="45720">
                    <a:lnR w="9525">
                      <a:solidFill>
                        <a:srgbClr val="CFD9E3"/>
                      </a:solidFill>
                      <a:prstDash val="solid"/>
                    </a:lnR>
                    <a:lnB w="9525">
                      <a:solidFill>
                        <a:srgbClr val="CFD9E3"/>
                      </a:solidFill>
                      <a:prstDash val="solid"/>
                    </a:lnB>
                    <a:solidFill>
                      <a:srgbClr val="F0F5F9"/>
                    </a:solidFill>
                  </a:tcPr>
                </a:tc>
              </a:tr>
              <a:tr h="554038">
                <a:tc>
                  <a:txBody>
                    <a:bodyPr/>
                    <a:lstStyle/>
                    <a:p>
                      <a:r>
                        <a:rPr sz="1875" b="0">
                          <a:solidFill>
                            <a:srgbClr val="22344B"/>
                          </a:solidFill>
                          <a:latin typeface="Arial"/>
                          <a:ea typeface="Arial"/>
                          <a:cs typeface="Arial"/>
                        </a:rPr>
                        <a:t>Owner permission</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FFFFF"/>
                    </a:solidFill>
                  </a:tcPr>
                </a:tc>
                <a:tc>
                  <a:txBody>
                    <a:bodyPr/>
                    <a:lstStyle/>
                    <a:p>
                      <a:r>
                        <a:rPr sz="1875" b="0">
                          <a:solidFill>
                            <a:srgbClr val="22344B"/>
                          </a:solidFill>
                          <a:latin typeface="Arial"/>
                          <a:ea typeface="Arial"/>
                          <a:cs typeface="Arial"/>
                        </a:rPr>
                        <a:t>Signed grant/revoke history with expiry and versions</a:t>
                      </a:r>
                    </a:p>
                  </a:txBody>
                  <a:tcPr marL="91440" marR="91440" marT="45720" marB="45720">
                    <a:lnR w="9525">
                      <a:solidFill>
                        <a:srgbClr val="CFD9E3"/>
                      </a:solidFill>
                      <a:prstDash val="solid"/>
                    </a:lnR>
                    <a:lnB w="9525">
                      <a:solidFill>
                        <a:srgbClr val="CFD9E3"/>
                      </a:solidFill>
                      <a:prstDash val="solid"/>
                    </a:lnB>
                    <a:solidFill>
                      <a:srgbClr val="FFFFFF"/>
                    </a:solidFill>
                  </a:tcPr>
                </a:tc>
              </a:tr>
              <a:tr h="554038">
                <a:tc>
                  <a:txBody>
                    <a:bodyPr/>
                    <a:lstStyle/>
                    <a:p>
                      <a:r>
                        <a:rPr sz="1875" b="0">
                          <a:solidFill>
                            <a:srgbClr val="22344B"/>
                          </a:solidFill>
                          <a:latin typeface="Arial"/>
                          <a:ea typeface="Arial"/>
                          <a:cs typeface="Arial"/>
                        </a:rPr>
                        <a:t>Reader delivery</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0F5F9"/>
                    </a:solidFill>
                  </a:tcPr>
                </a:tc>
                <a:tc>
                  <a:txBody>
                    <a:bodyPr/>
                    <a:lstStyle/>
                    <a:p>
                      <a:r>
                        <a:rPr sz="1875" b="0">
                          <a:solidFill>
                            <a:srgbClr val="22344B"/>
                          </a:solidFill>
                          <a:latin typeface="Arial"/>
                          <a:ea typeface="Arial"/>
                          <a:cs typeface="Arial"/>
                        </a:rPr>
                        <a:t>X25519 + HKDF-SHA256 + AES-GCM envelope</a:t>
                      </a:r>
                    </a:p>
                  </a:txBody>
                  <a:tcPr marL="91440" marR="91440" marT="45720" marB="45720">
                    <a:lnR w="9525">
                      <a:solidFill>
                        <a:srgbClr val="CFD9E3"/>
                      </a:solidFill>
                      <a:prstDash val="solid"/>
                    </a:lnR>
                    <a:lnB w="9525">
                      <a:solidFill>
                        <a:srgbClr val="CFD9E3"/>
                      </a:solidFill>
                      <a:prstDash val="solid"/>
                    </a:lnB>
                    <a:solidFill>
                      <a:srgbClr val="F0F5F9"/>
                    </a:solidFill>
                  </a:tcPr>
                </a:tc>
              </a:tr>
              <a:tr h="554038">
                <a:tc>
                  <a:txBody>
                    <a:bodyPr/>
                    <a:lstStyle/>
                    <a:p>
                      <a:r>
                        <a:rPr sz="1875" b="0">
                          <a:solidFill>
                            <a:srgbClr val="22344B"/>
                          </a:solidFill>
                          <a:latin typeface="Arial"/>
                          <a:ea typeface="Arial"/>
                          <a:cs typeface="Arial"/>
                        </a:rPr>
                        <a:t>Validator unavailable</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FFFFF"/>
                    </a:solidFill>
                  </a:tcPr>
                </a:tc>
                <a:tc>
                  <a:txBody>
                    <a:bodyPr/>
                    <a:lstStyle/>
                    <a:p>
                      <a:r>
                        <a:rPr sz="1875" b="0">
                          <a:solidFill>
                            <a:srgbClr val="22344B"/>
                          </a:solidFill>
                          <a:latin typeface="Arial"/>
                          <a:ea typeface="Arial"/>
                          <a:cs typeface="Arial"/>
                        </a:rPr>
                        <a:t>Third-party disclosure fails closed</a:t>
                      </a:r>
                    </a:p>
                  </a:txBody>
                  <a:tcPr marL="91440" marR="91440" marT="45720" marB="45720">
                    <a:lnR w="9525">
                      <a:solidFill>
                        <a:srgbClr val="CFD9E3"/>
                      </a:solidFill>
                      <a:prstDash val="solid"/>
                    </a:lnR>
                    <a:lnB w="9525">
                      <a:solidFill>
                        <a:srgbClr val="CFD9E3"/>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36A0691-C51F-4C73-BF87-2E17A9556E70}"/>
              </a:ext>
            </a:extLst>
          </p:cNvPr>
          <p:cNvSpPr>
            <a:spLocks xmlns:a="http://schemas.openxmlformats.org/drawingml/2006/main" noGrp="1"/>
          </p:cNvSpPr>
          <p:nvPr/>
        </p:nvSpPr>
        <p:spPr>
          <a:xfrm xmlns:a="http://schemas.openxmlformats.org/drawingml/2006/main">
            <a:off x="666750" y="52482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087F8C"/>
                </a:solidFill>
                <a:latin typeface="Arial"/>
                <a:ea typeface="Arial"/>
                <a:cs typeface="Arial"/>
              </a:defRPr>
            </a:defPPr>
            <a:lvl1pPr>
              <a:defRPr sz="2325" b="1">
                <a:solidFill>
                  <a:srgbClr val="087F8C"/>
                </a:solidFill>
                <a:latin typeface="Arial"/>
                <a:ea typeface="Arial"/>
                <a:cs typeface="Arial"/>
              </a:defRPr>
            </a:lvl1pPr>
            <a:lvl2pPr>
              <a:defRPr sz="2325" b="1">
                <a:solidFill>
                  <a:srgbClr val="087F8C"/>
                </a:solidFill>
                <a:latin typeface="Arial"/>
                <a:ea typeface="Arial"/>
                <a:cs typeface="Arial"/>
              </a:defRPr>
            </a:lvl2pPr>
            <a:lvl3pPr>
              <a:defRPr sz="2325" b="1">
                <a:solidFill>
                  <a:srgbClr val="087F8C"/>
                </a:solidFill>
                <a:latin typeface="Arial"/>
                <a:ea typeface="Arial"/>
                <a:cs typeface="Arial"/>
              </a:defRPr>
            </a:lvl3pPr>
            <a:lvl4pPr>
              <a:defRPr sz="2325" b="1">
                <a:solidFill>
                  <a:srgbClr val="087F8C"/>
                </a:solidFill>
                <a:latin typeface="Arial"/>
                <a:ea typeface="Arial"/>
                <a:cs typeface="Arial"/>
              </a:defRPr>
            </a:lvl4pPr>
            <a:lvl5pPr>
              <a:defRPr sz="2325" b="1">
                <a:solidFill>
                  <a:srgbClr val="087F8C"/>
                </a:solidFill>
                <a:latin typeface="Arial"/>
                <a:ea typeface="Arial"/>
                <a:cs typeface="Arial"/>
              </a:defRPr>
            </a:lvl5pPr>
            <a:lvl6pPr>
              <a:defRPr sz="2325" b="1">
                <a:solidFill>
                  <a:srgbClr val="087F8C"/>
                </a:solidFill>
                <a:latin typeface="Arial"/>
                <a:ea typeface="Arial"/>
                <a:cs typeface="Arial"/>
              </a:defRPr>
            </a:lvl6pPr>
            <a:lvl7pPr>
              <a:defRPr sz="2325" b="1">
                <a:solidFill>
                  <a:srgbClr val="087F8C"/>
                </a:solidFill>
                <a:latin typeface="Arial"/>
                <a:ea typeface="Arial"/>
                <a:cs typeface="Arial"/>
              </a:defRPr>
            </a:lvl7pPr>
            <a:lvl8pPr>
              <a:defRPr sz="2325" b="1">
                <a:solidFill>
                  <a:srgbClr val="087F8C"/>
                </a:solidFill>
                <a:latin typeface="Arial"/>
                <a:ea typeface="Arial"/>
                <a:cs typeface="Arial"/>
              </a:defRPr>
            </a:lvl8pPr>
            <a:lvl9pPr>
              <a:defRPr sz="2325" b="1">
                <a:solidFill>
                  <a:srgbClr val="087F8C"/>
                </a:solidFill>
                <a:latin typeface="Arial"/>
                <a:ea typeface="Arial"/>
                <a:cs typeface="Arial"/>
              </a:defRPr>
            </a:lvl9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AI proposes an anomaly. Deterministic code enforces permission.</a:t>
            </a:r>
          </a:p>
        </p:txBody>
      </p:sp>
      <p:sp>
        <p:nvSpPr>
          <p:cNvPr id="6" name="">
            <a:extLst xmlns:a="http://schemas.openxmlformats.org/drawingml/2006/main">
              <a:ext uri="{FF2B5EF4-FFF2-40B4-BE49-F238E27FC236}">
                <a16:creationId xmlns:a16="http://schemas.microsoft.com/office/drawing/2014/main" id="{9A30F83B-CC58-40E8-9016-34AB9A31700F}"/>
              </a:ext>
            </a:extLst>
          </p:cNvPr>
          <p:cNvSpPr>
            <a:spLocks xmlns:a="http://schemas.openxmlformats.org/drawingml/2006/main" noGrp="1"/>
          </p:cNvSpPr>
          <p:nvPr/>
        </p:nvSpPr>
        <p:spPr>
          <a:xfrm xmlns:a="http://schemas.openxmlformats.org/drawingml/2006/main">
            <a:off x="666750" y="58293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96B7E"/>
                </a:solidFill>
                <a:latin typeface="Arial"/>
                <a:ea typeface="Arial"/>
                <a:cs typeface="Arial"/>
              </a:defRPr>
            </a:defPPr>
            <a:lvl1pPr>
              <a:defRPr sz="1800" b="0">
                <a:solidFill>
                  <a:srgbClr val="596B7E"/>
                </a:solidFill>
                <a:latin typeface="Arial"/>
                <a:ea typeface="Arial"/>
                <a:cs typeface="Arial"/>
              </a:defRPr>
            </a:lvl1pPr>
            <a:lvl2pPr>
              <a:defRPr sz="1800" b="0">
                <a:solidFill>
                  <a:srgbClr val="596B7E"/>
                </a:solidFill>
                <a:latin typeface="Arial"/>
                <a:ea typeface="Arial"/>
                <a:cs typeface="Arial"/>
              </a:defRPr>
            </a:lvl2pPr>
            <a:lvl3pPr>
              <a:defRPr sz="1800" b="0">
                <a:solidFill>
                  <a:srgbClr val="596B7E"/>
                </a:solidFill>
                <a:latin typeface="Arial"/>
                <a:ea typeface="Arial"/>
                <a:cs typeface="Arial"/>
              </a:defRPr>
            </a:lvl3pPr>
            <a:lvl4pPr>
              <a:defRPr sz="1800" b="0">
                <a:solidFill>
                  <a:srgbClr val="596B7E"/>
                </a:solidFill>
                <a:latin typeface="Arial"/>
                <a:ea typeface="Arial"/>
                <a:cs typeface="Arial"/>
              </a:defRPr>
            </a:lvl4pPr>
            <a:lvl5pPr>
              <a:defRPr sz="1800" b="0">
                <a:solidFill>
                  <a:srgbClr val="596B7E"/>
                </a:solidFill>
                <a:latin typeface="Arial"/>
                <a:ea typeface="Arial"/>
                <a:cs typeface="Arial"/>
              </a:defRPr>
            </a:lvl5pPr>
            <a:lvl6pPr>
              <a:defRPr sz="1800" b="0">
                <a:solidFill>
                  <a:srgbClr val="596B7E"/>
                </a:solidFill>
                <a:latin typeface="Arial"/>
                <a:ea typeface="Arial"/>
                <a:cs typeface="Arial"/>
              </a:defRPr>
            </a:lvl6pPr>
            <a:lvl7pPr>
              <a:defRPr sz="1800" b="0">
                <a:solidFill>
                  <a:srgbClr val="596B7E"/>
                </a:solidFill>
                <a:latin typeface="Arial"/>
                <a:ea typeface="Arial"/>
                <a:cs typeface="Arial"/>
              </a:defRPr>
            </a:lvl7pPr>
            <a:lvl8pPr>
              <a:defRPr sz="1800" b="0">
                <a:solidFill>
                  <a:srgbClr val="596B7E"/>
                </a:solidFill>
                <a:latin typeface="Arial"/>
                <a:ea typeface="Arial"/>
                <a:cs typeface="Arial"/>
              </a:defRPr>
            </a:lvl8pPr>
            <a:lvl9pPr>
              <a:defRPr sz="1800" b="0">
                <a:solidFill>
                  <a:srgbClr val="596B7E"/>
                </a:solidFill>
                <a:latin typeface="Arial"/>
                <a:ea typeface="Arial"/>
                <a:cs typeface="Arial"/>
              </a:defRPr>
            </a:lvl9pPr>
          </a:lstStyle>
          <a:p xmlns:a="http://schemas.openxmlformats.org/drawingml/2006/main">
            <a:pPr>
              <a:defRPr sz="1800" b="0">
                <a:solidFill>
                  <a:srgbClr val="596B7E"/>
                </a:solidFill>
                <a:latin typeface="Arial"/>
                <a:ea typeface="Arial"/>
                <a:cs typeface="Arial"/>
              </a:defRPr>
            </a:pPr>
            <a:r>
              <a:rPr sz="1800" b="0">
                <a:solidFill>
                  <a:srgbClr val="596B7E"/>
                </a:solidFill>
                <a:latin typeface="Arial"/>
                <a:ea typeface="Arial"/>
                <a:cs typeface="Arial"/>
              </a:rPr>
              <a:t>Revocation prevents future release. It cannot erase previously received copies.</a:t>
            </a:r>
          </a:p>
        </p:txBody>
      </p:sp>
    </p:spTree>
    <p:extLst>
      <p:ext uri="{BB962C8B-B14F-4D97-AF65-F5344CB8AC3E}">
        <p14:creationId xmlns:p14="http://schemas.microsoft.com/office/powerpoint/2010/main" val="19296421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6D0142-B717-4D53-8A93-F0603D402FB1}"/>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Implementation and demonstration</a:t>
            </a:r>
          </a:p>
        </p:txBody>
      </p:sp>
      <p:sp>
        <p:nvSpPr>
          <p:cNvPr id="2" name="">
            <a:extLst xmlns:a="http://schemas.openxmlformats.org/drawingml/2006/main">
              <a:ext uri="{FF2B5EF4-FFF2-40B4-BE49-F238E27FC236}">
                <a16:creationId xmlns:a16="http://schemas.microsoft.com/office/drawing/2014/main" id="{CA283C9B-4C05-46DA-A951-89D38A89B34E}"/>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D85712DD-BD95-440C-85EF-72E8F2F0DBC8}"/>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07 / 10</a:t>
            </a:r>
          </a:p>
        </p:txBody>
      </p:sp>
      <p:sp>
        <p:nvSpPr>
          <p:cNvPr id="4" name="">
            <a:extLst xmlns:a="http://schemas.openxmlformats.org/drawingml/2006/main">
              <a:ext uri="{FF2B5EF4-FFF2-40B4-BE49-F238E27FC236}">
                <a16:creationId xmlns:a16="http://schemas.microsoft.com/office/drawing/2014/main" id="{DD551630-8246-4F9B-B202-6699058DBA99}"/>
              </a:ext>
            </a:extLst>
          </p:cNvPr>
          <p:cNvSpPr>
            <a:spLocks xmlns:a="http://schemas.openxmlformats.org/drawingml/2006/main" noGrp="1"/>
          </p:cNvSpPr>
          <p:nvPr/>
        </p:nvSpPr>
        <p:spPr>
          <a:xfrm xmlns:a="http://schemas.openxmlformats.org/drawingml/2006/main">
            <a:off x="666750" y="147637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Owner dashboard</a:t>
            </a:r>
          </a:p>
        </p:txBody>
      </p:sp>
      <p:sp>
        <p:nvSpPr>
          <p:cNvPr id="5" name="">
            <a:extLst xmlns:a="http://schemas.openxmlformats.org/drawingml/2006/main">
              <a:ext uri="{FF2B5EF4-FFF2-40B4-BE49-F238E27FC236}">
                <a16:creationId xmlns:a16="http://schemas.microsoft.com/office/drawing/2014/main" id="{D88D8458-03A6-464C-9377-1A46B3542557}"/>
              </a:ext>
            </a:extLst>
          </p:cNvPr>
          <p:cNvSpPr>
            <a:spLocks xmlns:a="http://schemas.openxmlformats.org/drawingml/2006/main" noGrp="1"/>
          </p:cNvSpPr>
          <p:nvPr/>
        </p:nvSpPr>
        <p:spPr>
          <a:xfrm xmlns:a="http://schemas.openxmlformats.org/drawingml/2006/main">
            <a:off x="6334125" y="147637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Reader dashboard</a:t>
            </a:r>
          </a:p>
        </p:txBody>
      </p:sp>
      <p:pic>
        <p:nvPicPr>
          <p:cNvPr id="6" name="">
            <a:extLst xmlns:a="http://schemas.openxmlformats.org/drawingml/2006/main">
              <a:ext uri="{FF2B5EF4-FFF2-40B4-BE49-F238E27FC236}">
                <a16:creationId xmlns:a16="http://schemas.microsoft.com/office/drawing/2014/main" id="{0B98F1C0-A88D-4201-B31C-B1581E023656}"/>
              </a:ext>
            </a:extLst>
          </p:cNvPr>
          <p:cNvPicPr>
            <a:picLocks xmlns:a="http://schemas.openxmlformats.org/drawingml/2006/main" noChangeAspect="1"/>
          </p:cNvPicPr>
          <p:nvPr/>
        </p:nvPicPr>
        <p:blipFill>
          <a:blip xmlns:r="http://schemas.openxmlformats.org/officeDocument/2006/relationships" xmlns:a="http://schemas.openxmlformats.org/drawingml/2006/main" r:embed="Ra69f73e41bc14898"/>
          <a:srcRect xmlns:a="http://schemas.openxmlformats.org/drawingml/2006/main" l="19000" t="78500" r="28000" b="4000"/>
          <a:stretch xmlns:a="http://schemas.openxmlformats.org/drawingml/2006/main"/>
        </p:blipFill>
        <p:spPr>
          <a:xfrm xmlns:a="http://schemas.openxmlformats.org/drawingml/2006/main">
            <a:off x="803329" y="2085975"/>
            <a:ext cx="4870341" cy="29813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3534D95-8EC4-4FB6-A861-59C5691AF7B9}"/>
              </a:ext>
            </a:extLst>
          </p:cNvPr>
          <p:cNvPicPr>
            <a:picLocks xmlns:a="http://schemas.openxmlformats.org/drawingml/2006/main" noChangeAspect="1"/>
          </p:cNvPicPr>
          <p:nvPr/>
        </p:nvPicPr>
        <p:blipFill>
          <a:blip xmlns:r="http://schemas.openxmlformats.org/officeDocument/2006/relationships" xmlns:a="http://schemas.openxmlformats.org/drawingml/2006/main" r:embed="Rbd340570857d4e15"/>
          <a:srcRect xmlns:a="http://schemas.openxmlformats.org/drawingml/2006/main" l="19000" t="53000" r="28000" b="22000"/>
          <a:stretch xmlns:a="http://schemas.openxmlformats.org/drawingml/2006/main"/>
        </p:blipFill>
        <p:spPr>
          <a:xfrm xmlns:a="http://schemas.openxmlformats.org/drawingml/2006/main">
            <a:off x="6305550" y="2565027"/>
            <a:ext cx="5238750" cy="202322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BB53474-7305-4B14-900D-B9EE0080991E}"/>
              </a:ext>
            </a:extLst>
          </p:cNvPr>
          <p:cNvSpPr>
            <a:spLocks xmlns:a="http://schemas.openxmlformats.org/drawingml/2006/main" noGrp="1"/>
          </p:cNvSpPr>
          <p:nvPr/>
        </p:nvSpPr>
        <p:spPr>
          <a:xfrm xmlns:a="http://schemas.openxmlformats.org/drawingml/2006/main">
            <a:off x="666750" y="5257800"/>
            <a:ext cx="5181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2344B"/>
                </a:solidFill>
                <a:latin typeface="Arial"/>
                <a:ea typeface="Arial"/>
                <a:cs typeface="Arial"/>
              </a:defRPr>
            </a:defPPr>
            <a:lvl1pPr>
              <a:defRPr sz="1800" b="0">
                <a:solidFill>
                  <a:srgbClr val="22344B"/>
                </a:solidFill>
                <a:latin typeface="Arial"/>
                <a:ea typeface="Arial"/>
                <a:cs typeface="Arial"/>
              </a:defRPr>
            </a:lvl1pPr>
            <a:lvl2pPr>
              <a:defRPr sz="1800" b="0">
                <a:solidFill>
                  <a:srgbClr val="22344B"/>
                </a:solidFill>
                <a:latin typeface="Arial"/>
                <a:ea typeface="Arial"/>
                <a:cs typeface="Arial"/>
              </a:defRPr>
            </a:lvl2pPr>
            <a:lvl3pPr>
              <a:defRPr sz="1800" b="0">
                <a:solidFill>
                  <a:srgbClr val="22344B"/>
                </a:solidFill>
                <a:latin typeface="Arial"/>
                <a:ea typeface="Arial"/>
                <a:cs typeface="Arial"/>
              </a:defRPr>
            </a:lvl3pPr>
            <a:lvl4pPr>
              <a:defRPr sz="1800" b="0">
                <a:solidFill>
                  <a:srgbClr val="22344B"/>
                </a:solidFill>
                <a:latin typeface="Arial"/>
                <a:ea typeface="Arial"/>
                <a:cs typeface="Arial"/>
              </a:defRPr>
            </a:lvl4pPr>
            <a:lvl5pPr>
              <a:defRPr sz="1800" b="0">
                <a:solidFill>
                  <a:srgbClr val="22344B"/>
                </a:solidFill>
                <a:latin typeface="Arial"/>
                <a:ea typeface="Arial"/>
                <a:cs typeface="Arial"/>
              </a:defRPr>
            </a:lvl5pPr>
            <a:lvl6pPr>
              <a:defRPr sz="1800" b="0">
                <a:solidFill>
                  <a:srgbClr val="22344B"/>
                </a:solidFill>
                <a:latin typeface="Arial"/>
                <a:ea typeface="Arial"/>
                <a:cs typeface="Arial"/>
              </a:defRPr>
            </a:lvl6pPr>
            <a:lvl7pPr>
              <a:defRPr sz="1800" b="0">
                <a:solidFill>
                  <a:srgbClr val="22344B"/>
                </a:solidFill>
                <a:latin typeface="Arial"/>
                <a:ea typeface="Arial"/>
                <a:cs typeface="Arial"/>
              </a:defRPr>
            </a:lvl7pPr>
            <a:lvl8pPr>
              <a:defRPr sz="1800" b="0">
                <a:solidFill>
                  <a:srgbClr val="22344B"/>
                </a:solidFill>
                <a:latin typeface="Arial"/>
                <a:ea typeface="Arial"/>
                <a:cs typeface="Arial"/>
              </a:defRPr>
            </a:lvl8pPr>
            <a:lvl9pPr>
              <a:defRPr sz="1800" b="0">
                <a:solidFill>
                  <a:srgbClr val="22344B"/>
                </a:solidFill>
                <a:latin typeface="Arial"/>
                <a:ea typeface="Arial"/>
                <a:cs typeface="Arial"/>
              </a:defRPr>
            </a:lvl9pPr>
          </a:lstStyle>
          <a:p xmlns:a="http://schemas.openxmlformats.org/drawingml/2006/main">
            <a:pPr>
              <a:defRPr sz="1800" b="0">
                <a:solidFill>
                  <a:srgbClr val="22344B"/>
                </a:solidFill>
                <a:latin typeface="Arial"/>
                <a:ea typeface="Arial"/>
                <a:cs typeface="Arial"/>
              </a:defRPr>
            </a:pPr>
            <a:r>
              <a:rPr sz="1800" b="0">
                <a:solidFill>
                  <a:srgbClr val="22344B"/>
                </a:solidFill>
                <a:latin typeface="Arial"/>
                <a:ea typeface="Arial"/>
                <a:cs typeface="Arial"/>
              </a:rPr>
              <a:t>Detailed readings and permission management</a:t>
            </a:r>
          </a:p>
        </p:txBody>
      </p:sp>
      <p:sp>
        <p:nvSpPr>
          <p:cNvPr id="9" name="">
            <a:extLst xmlns:a="http://schemas.openxmlformats.org/drawingml/2006/main">
              <a:ext uri="{FF2B5EF4-FFF2-40B4-BE49-F238E27FC236}">
                <a16:creationId xmlns:a16="http://schemas.microsoft.com/office/drawing/2014/main" id="{4B6D5AF9-FC0B-4EC1-9970-FC9C03F44718}"/>
              </a:ext>
            </a:extLst>
          </p:cNvPr>
          <p:cNvSpPr>
            <a:spLocks xmlns:a="http://schemas.openxmlformats.org/drawingml/2006/main" noGrp="1"/>
          </p:cNvSpPr>
          <p:nvPr/>
        </p:nvSpPr>
        <p:spPr>
          <a:xfrm xmlns:a="http://schemas.openxmlformats.org/drawingml/2006/main">
            <a:off x="6334125" y="5257800"/>
            <a:ext cx="5181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2344B"/>
                </a:solidFill>
                <a:latin typeface="Arial"/>
                <a:ea typeface="Arial"/>
                <a:cs typeface="Arial"/>
              </a:defRPr>
            </a:defPPr>
            <a:lvl1pPr>
              <a:defRPr sz="1800" b="0">
                <a:solidFill>
                  <a:srgbClr val="22344B"/>
                </a:solidFill>
                <a:latin typeface="Arial"/>
                <a:ea typeface="Arial"/>
                <a:cs typeface="Arial"/>
              </a:defRPr>
            </a:lvl1pPr>
            <a:lvl2pPr>
              <a:defRPr sz="1800" b="0">
                <a:solidFill>
                  <a:srgbClr val="22344B"/>
                </a:solidFill>
                <a:latin typeface="Arial"/>
                <a:ea typeface="Arial"/>
                <a:cs typeface="Arial"/>
              </a:defRPr>
            </a:lvl2pPr>
            <a:lvl3pPr>
              <a:defRPr sz="1800" b="0">
                <a:solidFill>
                  <a:srgbClr val="22344B"/>
                </a:solidFill>
                <a:latin typeface="Arial"/>
                <a:ea typeface="Arial"/>
                <a:cs typeface="Arial"/>
              </a:defRPr>
            </a:lvl3pPr>
            <a:lvl4pPr>
              <a:defRPr sz="1800" b="0">
                <a:solidFill>
                  <a:srgbClr val="22344B"/>
                </a:solidFill>
                <a:latin typeface="Arial"/>
                <a:ea typeface="Arial"/>
                <a:cs typeface="Arial"/>
              </a:defRPr>
            </a:lvl4pPr>
            <a:lvl5pPr>
              <a:defRPr sz="1800" b="0">
                <a:solidFill>
                  <a:srgbClr val="22344B"/>
                </a:solidFill>
                <a:latin typeface="Arial"/>
                <a:ea typeface="Arial"/>
                <a:cs typeface="Arial"/>
              </a:defRPr>
            </a:lvl5pPr>
            <a:lvl6pPr>
              <a:defRPr sz="1800" b="0">
                <a:solidFill>
                  <a:srgbClr val="22344B"/>
                </a:solidFill>
                <a:latin typeface="Arial"/>
                <a:ea typeface="Arial"/>
                <a:cs typeface="Arial"/>
              </a:defRPr>
            </a:lvl6pPr>
            <a:lvl7pPr>
              <a:defRPr sz="1800" b="0">
                <a:solidFill>
                  <a:srgbClr val="22344B"/>
                </a:solidFill>
                <a:latin typeface="Arial"/>
                <a:ea typeface="Arial"/>
                <a:cs typeface="Arial"/>
              </a:defRPr>
            </a:lvl7pPr>
            <a:lvl8pPr>
              <a:defRPr sz="1800" b="0">
                <a:solidFill>
                  <a:srgbClr val="22344B"/>
                </a:solidFill>
                <a:latin typeface="Arial"/>
                <a:ea typeface="Arial"/>
                <a:cs typeface="Arial"/>
              </a:defRPr>
            </a:lvl8pPr>
            <a:lvl9pPr>
              <a:defRPr sz="1800" b="0">
                <a:solidFill>
                  <a:srgbClr val="22344B"/>
                </a:solidFill>
                <a:latin typeface="Arial"/>
                <a:ea typeface="Arial"/>
                <a:cs typeface="Arial"/>
              </a:defRPr>
            </a:lvl9pPr>
          </a:lstStyle>
          <a:p xmlns:a="http://schemas.openxmlformats.org/drawingml/2006/main">
            <a:pPr>
              <a:defRPr sz="1800" b="0">
                <a:solidFill>
                  <a:srgbClr val="22344B"/>
                </a:solidFill>
                <a:latin typeface="Arial"/>
                <a:ea typeface="Arial"/>
                <a:cs typeface="Arial"/>
              </a:defRPr>
            </a:pPr>
            <a:r>
              <a:rPr sz="1800" b="0">
                <a:solidFill>
                  <a:srgbClr val="22344B"/>
                </a:solidFill>
                <a:latin typeface="Arial"/>
                <a:ea typeface="Arial"/>
                <a:cs typeface="Arial"/>
              </a:rPr>
              <a:t>Only the permitted anomaly insight</a:t>
            </a:r>
          </a:p>
        </p:txBody>
      </p:sp>
      <p:sp>
        <p:nvSpPr>
          <p:cNvPr id="10" name="">
            <a:extLst xmlns:a="http://schemas.openxmlformats.org/drawingml/2006/main">
              <a:ext uri="{FF2B5EF4-FFF2-40B4-BE49-F238E27FC236}">
                <a16:creationId xmlns:a16="http://schemas.microsoft.com/office/drawing/2014/main" id="{DFA0EB1C-E67C-45F5-88DC-807EB947B31B}"/>
              </a:ext>
            </a:extLst>
          </p:cNvPr>
          <p:cNvSpPr>
            <a:spLocks xmlns:a="http://schemas.openxmlformats.org/drawingml/2006/main" noGrp="1"/>
          </p:cNvSpPr>
          <p:nvPr/>
        </p:nvSpPr>
        <p:spPr>
          <a:xfrm xmlns:a="http://schemas.openxmlformats.org/drawingml/2006/main">
            <a:off x="666750" y="59436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96B7E"/>
                </a:solidFill>
                <a:latin typeface="Arial"/>
                <a:ea typeface="Arial"/>
                <a:cs typeface="Arial"/>
              </a:defRPr>
            </a:defPPr>
            <a:lvl1pPr>
              <a:defRPr sz="1725" b="0">
                <a:solidFill>
                  <a:srgbClr val="596B7E"/>
                </a:solidFill>
                <a:latin typeface="Arial"/>
                <a:ea typeface="Arial"/>
                <a:cs typeface="Arial"/>
              </a:defRPr>
            </a:lvl1pPr>
            <a:lvl2pPr>
              <a:defRPr sz="1725" b="0">
                <a:solidFill>
                  <a:srgbClr val="596B7E"/>
                </a:solidFill>
                <a:latin typeface="Arial"/>
                <a:ea typeface="Arial"/>
                <a:cs typeface="Arial"/>
              </a:defRPr>
            </a:lvl2pPr>
            <a:lvl3pPr>
              <a:defRPr sz="1725" b="0">
                <a:solidFill>
                  <a:srgbClr val="596B7E"/>
                </a:solidFill>
                <a:latin typeface="Arial"/>
                <a:ea typeface="Arial"/>
                <a:cs typeface="Arial"/>
              </a:defRPr>
            </a:lvl3pPr>
            <a:lvl4pPr>
              <a:defRPr sz="1725" b="0">
                <a:solidFill>
                  <a:srgbClr val="596B7E"/>
                </a:solidFill>
                <a:latin typeface="Arial"/>
                <a:ea typeface="Arial"/>
                <a:cs typeface="Arial"/>
              </a:defRPr>
            </a:lvl4pPr>
            <a:lvl5pPr>
              <a:defRPr sz="1725" b="0">
                <a:solidFill>
                  <a:srgbClr val="596B7E"/>
                </a:solidFill>
                <a:latin typeface="Arial"/>
                <a:ea typeface="Arial"/>
                <a:cs typeface="Arial"/>
              </a:defRPr>
            </a:lvl5pPr>
            <a:lvl6pPr>
              <a:defRPr sz="1725" b="0">
                <a:solidFill>
                  <a:srgbClr val="596B7E"/>
                </a:solidFill>
                <a:latin typeface="Arial"/>
                <a:ea typeface="Arial"/>
                <a:cs typeface="Arial"/>
              </a:defRPr>
            </a:lvl6pPr>
            <a:lvl7pPr>
              <a:defRPr sz="1725" b="0">
                <a:solidFill>
                  <a:srgbClr val="596B7E"/>
                </a:solidFill>
                <a:latin typeface="Arial"/>
                <a:ea typeface="Arial"/>
                <a:cs typeface="Arial"/>
              </a:defRPr>
            </a:lvl7pPr>
            <a:lvl8pPr>
              <a:defRPr sz="1725" b="0">
                <a:solidFill>
                  <a:srgbClr val="596B7E"/>
                </a:solidFill>
                <a:latin typeface="Arial"/>
                <a:ea typeface="Arial"/>
                <a:cs typeface="Arial"/>
              </a:defRPr>
            </a:lvl8pPr>
            <a:lvl9pPr>
              <a:defRPr sz="1725" b="0">
                <a:solidFill>
                  <a:srgbClr val="596B7E"/>
                </a:solidFill>
                <a:latin typeface="Arial"/>
                <a:ea typeface="Arial"/>
                <a:cs typeface="Arial"/>
              </a:defRPr>
            </a:lvl9pPr>
          </a:lstStyle>
          <a:p xmlns:a="http://schemas.openxmlformats.org/drawingml/2006/main">
            <a:pPr>
              <a:defRPr sz="1725" b="0">
                <a:solidFill>
                  <a:srgbClr val="596B7E"/>
                </a:solidFill>
                <a:latin typeface="Arial"/>
                <a:ea typeface="Arial"/>
                <a:cs typeface="Arial"/>
              </a:defRPr>
            </a:pPr>
            <a:r>
              <a:rPr sz="1725" b="0">
                <a:solidFill>
                  <a:srgbClr val="596B7E"/>
                </a:solidFill>
                <a:latin typeface="Arial"/>
                <a:ea typeface="Arial"/>
                <a:cs typeface="Arial"/>
              </a:rPr>
              <a:t>Python / FastAPI / SQLite / scikit-learn / Next.js / TypeScript</a:t>
            </a:r>
          </a:p>
        </p:txBody>
      </p:sp>
    </p:spTree>
    <p:extLst>
      <p:ext uri="{BB962C8B-B14F-4D97-AF65-F5344CB8AC3E}">
        <p14:creationId xmlns:p14="http://schemas.microsoft.com/office/powerpoint/2010/main" val="12857407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86377D-FC42-47A8-980A-060808ACDCA5}"/>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Anomaly detection results</a:t>
            </a:r>
          </a:p>
        </p:txBody>
      </p:sp>
      <p:sp>
        <p:nvSpPr>
          <p:cNvPr id="2" name="">
            <a:extLst xmlns:a="http://schemas.openxmlformats.org/drawingml/2006/main">
              <a:ext uri="{FF2B5EF4-FFF2-40B4-BE49-F238E27FC236}">
                <a16:creationId xmlns:a16="http://schemas.microsoft.com/office/drawing/2014/main" id="{F6E20632-8AFC-4BF8-89D6-33EE61961AEE}"/>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75A79C02-34D0-462F-A6A2-864DB41F5134}"/>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08 / 10</a:t>
            </a:r>
          </a:p>
        </p:txBody>
      </p:sp>
      <p:sp>
        <p:nvSpPr>
          <p:cNvPr id="4" name="">
            <a:extLst xmlns:a="http://schemas.openxmlformats.org/drawingml/2006/main">
              <a:ext uri="{FF2B5EF4-FFF2-40B4-BE49-F238E27FC236}">
                <a16:creationId xmlns:a16="http://schemas.microsoft.com/office/drawing/2014/main" id="{171332FB-C5E1-4A88-B47F-A8B4B0812F4F}"/>
              </a:ext>
            </a:extLst>
          </p:cNvPr>
          <p:cNvSpPr>
            <a:spLocks xmlns:a="http://schemas.openxmlformats.org/drawingml/2006/main" noGrp="1"/>
          </p:cNvSpPr>
          <p:nvPr/>
        </p:nvSpPr>
        <p:spPr>
          <a:xfrm xmlns:a="http://schemas.openxmlformats.org/drawingml/2006/main">
            <a:off x="666750" y="1466850"/>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2344B"/>
                </a:solidFill>
                <a:latin typeface="Arial"/>
                <a:ea typeface="Arial"/>
                <a:cs typeface="Arial"/>
              </a:defRPr>
            </a:defPPr>
            <a:lvl1pPr>
              <a:defRPr sz="1950" b="0">
                <a:solidFill>
                  <a:srgbClr val="22344B"/>
                </a:solidFill>
                <a:latin typeface="Arial"/>
                <a:ea typeface="Arial"/>
                <a:cs typeface="Arial"/>
              </a:defRPr>
            </a:lvl1pPr>
            <a:lvl2pPr>
              <a:defRPr sz="1950" b="0">
                <a:solidFill>
                  <a:srgbClr val="22344B"/>
                </a:solidFill>
                <a:latin typeface="Arial"/>
                <a:ea typeface="Arial"/>
                <a:cs typeface="Arial"/>
              </a:defRPr>
            </a:lvl2pPr>
            <a:lvl3pPr>
              <a:defRPr sz="1950" b="0">
                <a:solidFill>
                  <a:srgbClr val="22344B"/>
                </a:solidFill>
                <a:latin typeface="Arial"/>
                <a:ea typeface="Arial"/>
                <a:cs typeface="Arial"/>
              </a:defRPr>
            </a:lvl3pPr>
            <a:lvl4pPr>
              <a:defRPr sz="1950" b="0">
                <a:solidFill>
                  <a:srgbClr val="22344B"/>
                </a:solidFill>
                <a:latin typeface="Arial"/>
                <a:ea typeface="Arial"/>
                <a:cs typeface="Arial"/>
              </a:defRPr>
            </a:lvl4pPr>
            <a:lvl5pPr>
              <a:defRPr sz="1950" b="0">
                <a:solidFill>
                  <a:srgbClr val="22344B"/>
                </a:solidFill>
                <a:latin typeface="Arial"/>
                <a:ea typeface="Arial"/>
                <a:cs typeface="Arial"/>
              </a:defRPr>
            </a:lvl5pPr>
            <a:lvl6pPr>
              <a:defRPr sz="1950" b="0">
                <a:solidFill>
                  <a:srgbClr val="22344B"/>
                </a:solidFill>
                <a:latin typeface="Arial"/>
                <a:ea typeface="Arial"/>
                <a:cs typeface="Arial"/>
              </a:defRPr>
            </a:lvl6pPr>
            <a:lvl7pPr>
              <a:defRPr sz="1950" b="0">
                <a:solidFill>
                  <a:srgbClr val="22344B"/>
                </a:solidFill>
                <a:latin typeface="Arial"/>
                <a:ea typeface="Arial"/>
                <a:cs typeface="Arial"/>
              </a:defRPr>
            </a:lvl7pPr>
            <a:lvl8pPr>
              <a:defRPr sz="1950" b="0">
                <a:solidFill>
                  <a:srgbClr val="22344B"/>
                </a:solidFill>
                <a:latin typeface="Arial"/>
                <a:ea typeface="Arial"/>
                <a:cs typeface="Arial"/>
              </a:defRPr>
            </a:lvl8pPr>
            <a:lvl9pPr>
              <a:defRPr sz="1950" b="0">
                <a:solidFill>
                  <a:srgbClr val="22344B"/>
                </a:solidFill>
                <a:latin typeface="Arial"/>
                <a:ea typeface="Arial"/>
                <a:cs typeface="Arial"/>
              </a:defRPr>
            </a:lvl9pPr>
          </a:lstStyle>
          <a:p xmlns:a="http://schemas.openxmlformats.org/drawingml/2006/main">
            <a:pPr>
              <a:defRPr sz="1950" b="0">
                <a:solidFill>
                  <a:srgbClr val="22344B"/>
                </a:solidFill>
                <a:latin typeface="Arial"/>
                <a:ea typeface="Arial"/>
                <a:cs typeface="Arial"/>
              </a:defRPr>
            </a:pPr>
            <a:r>
              <a:rPr sz="1950" b="0">
                <a:solidFill>
                  <a:srgbClr val="22344B"/>
                </a:solidFill>
                <a:latin typeface="Arial"/>
                <a:ea typeface="Arial"/>
                <a:cs typeface="Arial"/>
              </a:rPr>
              <a:t>Training: 512 normal samples     Holdout: 256 normal + 128 anomalous samples</a:t>
            </a:r>
          </a:p>
        </p:txBody>
      </p:sp>
      <p:graphicFrame>
        <p:nvGraphicFramePr>
          <p:cNvPr id="5" name="">
            <a:extLst xmlns:a="http://schemas.openxmlformats.org/drawingml/2006/main">
              <a:ext uri="{FF2B5EF4-FFF2-40B4-BE49-F238E27FC236}">
                <a16:creationId xmlns:a16="http://schemas.microsoft.com/office/drawing/2014/main" id="{5DA46959-9693-40A0-A6C6-EA9EEEE0E050}"/>
              </a:ext>
            </a:extLst>
          </p:cNvPr>
          <p:cNvGraphicFramePr/>
          <p:nvPr/>
        </p:nvGraphicFramePr>
        <p:xfrm>
          <a:off xmlns:a="http://schemas.openxmlformats.org/drawingml/2006/main" x="666750" y="2457450"/>
          <a:ext xmlns:a="http://schemas.openxmlformats.org/drawingml/2006/main" cx="10858500" cy="1895475"/>
        </p:xfrm>
        <a:graphic xmlns:a="http://schemas.openxmlformats.org/drawingml/2006/main">
          <a:graphicData uri="http://schemas.openxmlformats.org/drawingml/2006/table">
            <a:tbl>
              <a:tblPr/>
              <a:tblGrid>
                <a:gridCol w="4762500"/>
                <a:gridCol w="1524000"/>
                <a:gridCol w="1524000"/>
                <a:gridCol w="1524000"/>
                <a:gridCol w="1524000"/>
              </a:tblGrid>
              <a:tr h="631825">
                <a:tc>
                  <a:txBody>
                    <a:bodyPr/>
                    <a:lstStyle/>
                    <a:p>
                      <a:r>
                        <a:rPr sz="2025" b="1">
                          <a:solidFill>
                            <a:srgbClr val="FFFFFF"/>
                          </a:solidFill>
                          <a:latin typeface="Arial"/>
                          <a:ea typeface="Arial"/>
                          <a:cs typeface="Arial"/>
                        </a:rPr>
                        <a:t>Model</a:t>
                      </a:r>
                    </a:p>
                  </a:txBody>
                  <a:tcPr marL="91440" marR="91440" marT="45720" marB="45720">
                    <a:lnL w="9525">
                      <a:solidFill>
                        <a:srgbClr val="CFD9E3"/>
                      </a:solidFill>
                      <a:prstDash val="solid"/>
                    </a:lnL>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2025" b="1">
                          <a:solidFill>
                            <a:srgbClr val="FFFFFF"/>
                          </a:solidFill>
                          <a:latin typeface="Arial"/>
                          <a:ea typeface="Arial"/>
                          <a:cs typeface="Arial"/>
                        </a:rPr>
                        <a:t>TP</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2025" b="1">
                          <a:solidFill>
                            <a:srgbClr val="FFFFFF"/>
                          </a:solidFill>
                          <a:latin typeface="Arial"/>
                          <a:ea typeface="Arial"/>
                          <a:cs typeface="Arial"/>
                        </a:rPr>
                        <a:t>FP</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2025" b="1">
                          <a:solidFill>
                            <a:srgbClr val="FFFFFF"/>
                          </a:solidFill>
                          <a:latin typeface="Arial"/>
                          <a:ea typeface="Arial"/>
                          <a:cs typeface="Arial"/>
                        </a:rPr>
                        <a:t>TN</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2025" b="1">
                          <a:solidFill>
                            <a:srgbClr val="FFFFFF"/>
                          </a:solidFill>
                          <a:latin typeface="Arial"/>
                          <a:ea typeface="Arial"/>
                          <a:cs typeface="Arial"/>
                        </a:rPr>
                        <a:t>FN</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r>
              <a:tr h="631825">
                <a:tc>
                  <a:txBody>
                    <a:bodyPr/>
                    <a:lstStyle/>
                    <a:p>
                      <a:r>
                        <a:rPr sz="2025" b="0">
                          <a:solidFill>
                            <a:srgbClr val="22344B"/>
                          </a:solidFill>
                          <a:latin typeface="Arial"/>
                          <a:ea typeface="Arial"/>
                          <a:cs typeface="Arial"/>
                        </a:rPr>
                        <a:t>Isolation Forest</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FFFFF"/>
                    </a:solidFill>
                  </a:tcPr>
                </a:tc>
                <a:tc>
                  <a:txBody>
                    <a:bodyPr/>
                    <a:lstStyle/>
                    <a:p>
                      <a:r>
                        <a:rPr sz="2025" b="0">
                          <a:solidFill>
                            <a:srgbClr val="22344B"/>
                          </a:solidFill>
                          <a:latin typeface="Arial"/>
                          <a:ea typeface="Arial"/>
                          <a:cs typeface="Arial"/>
                        </a:rPr>
                        <a:t>128</a:t>
                      </a:r>
                    </a:p>
                  </a:txBody>
                  <a:tcPr marL="91440" marR="91440" marT="45720" marB="45720">
                    <a:lnR w="9525">
                      <a:solidFill>
                        <a:srgbClr val="CFD9E3"/>
                      </a:solidFill>
                      <a:prstDash val="solid"/>
                    </a:lnR>
                    <a:lnB w="9525">
                      <a:solidFill>
                        <a:srgbClr val="CFD9E3"/>
                      </a:solidFill>
                      <a:prstDash val="solid"/>
                    </a:lnB>
                    <a:solidFill>
                      <a:srgbClr val="FFFFFF"/>
                    </a:solidFill>
                  </a:tcPr>
                </a:tc>
                <a:tc>
                  <a:txBody>
                    <a:bodyPr/>
                    <a:lstStyle/>
                    <a:p>
                      <a:r>
                        <a:rPr sz="2025" b="0">
                          <a:solidFill>
                            <a:srgbClr val="22344B"/>
                          </a:solidFill>
                          <a:latin typeface="Arial"/>
                          <a:ea typeface="Arial"/>
                          <a:cs typeface="Arial"/>
                        </a:rPr>
                        <a:t>5</a:t>
                      </a:r>
                    </a:p>
                  </a:txBody>
                  <a:tcPr marL="91440" marR="91440" marT="45720" marB="45720">
                    <a:lnR w="9525">
                      <a:solidFill>
                        <a:srgbClr val="CFD9E3"/>
                      </a:solidFill>
                      <a:prstDash val="solid"/>
                    </a:lnR>
                    <a:lnB w="9525">
                      <a:solidFill>
                        <a:srgbClr val="CFD9E3"/>
                      </a:solidFill>
                      <a:prstDash val="solid"/>
                    </a:lnB>
                    <a:solidFill>
                      <a:srgbClr val="FFFFFF"/>
                    </a:solidFill>
                  </a:tcPr>
                </a:tc>
                <a:tc>
                  <a:txBody>
                    <a:bodyPr/>
                    <a:lstStyle/>
                    <a:p>
                      <a:r>
                        <a:rPr sz="2025" b="0">
                          <a:solidFill>
                            <a:srgbClr val="22344B"/>
                          </a:solidFill>
                          <a:latin typeface="Arial"/>
                          <a:ea typeface="Arial"/>
                          <a:cs typeface="Arial"/>
                        </a:rPr>
                        <a:t>251</a:t>
                      </a:r>
                    </a:p>
                  </a:txBody>
                  <a:tcPr marL="91440" marR="91440" marT="45720" marB="45720">
                    <a:lnR w="9525">
                      <a:solidFill>
                        <a:srgbClr val="CFD9E3"/>
                      </a:solidFill>
                      <a:prstDash val="solid"/>
                    </a:lnR>
                    <a:lnB w="9525">
                      <a:solidFill>
                        <a:srgbClr val="CFD9E3"/>
                      </a:solidFill>
                      <a:prstDash val="solid"/>
                    </a:lnB>
                    <a:solidFill>
                      <a:srgbClr val="FFFFFF"/>
                    </a:solidFill>
                  </a:tcPr>
                </a:tc>
                <a:tc>
                  <a:txBody>
                    <a:bodyPr/>
                    <a:lstStyle/>
                    <a:p>
                      <a:r>
                        <a:rPr sz="2025" b="0">
                          <a:solidFill>
                            <a:srgbClr val="22344B"/>
                          </a:solidFill>
                          <a:latin typeface="Arial"/>
                          <a:ea typeface="Arial"/>
                          <a:cs typeface="Arial"/>
                        </a:rPr>
                        <a:t>0</a:t>
                      </a:r>
                    </a:p>
                  </a:txBody>
                  <a:tcPr marL="91440" marR="91440" marT="45720" marB="45720">
                    <a:lnR w="9525">
                      <a:solidFill>
                        <a:srgbClr val="CFD9E3"/>
                      </a:solidFill>
                      <a:prstDash val="solid"/>
                    </a:lnR>
                    <a:lnB w="9525">
                      <a:solidFill>
                        <a:srgbClr val="CFD9E3"/>
                      </a:solidFill>
                      <a:prstDash val="solid"/>
                    </a:lnB>
                    <a:solidFill>
                      <a:srgbClr val="FFFFFF"/>
                    </a:solidFill>
                  </a:tcPr>
                </a:tc>
              </a:tr>
              <a:tr h="631825">
                <a:tc>
                  <a:txBody>
                    <a:bodyPr/>
                    <a:lstStyle/>
                    <a:p>
                      <a:r>
                        <a:rPr sz="2025" b="0">
                          <a:solidFill>
                            <a:srgbClr val="22344B"/>
                          </a:solidFill>
                          <a:latin typeface="Arial"/>
                          <a:ea typeface="Arial"/>
                          <a:cs typeface="Arial"/>
                        </a:rPr>
                        <a:t>Rule baseline</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0F5F9"/>
                    </a:solidFill>
                  </a:tcPr>
                </a:tc>
                <a:tc>
                  <a:txBody>
                    <a:bodyPr/>
                    <a:lstStyle/>
                    <a:p>
                      <a:r>
                        <a:rPr sz="2025" b="0">
                          <a:solidFill>
                            <a:srgbClr val="22344B"/>
                          </a:solidFill>
                          <a:latin typeface="Arial"/>
                          <a:ea typeface="Arial"/>
                          <a:cs typeface="Arial"/>
                        </a:rPr>
                        <a:t>128</a:t>
                      </a:r>
                    </a:p>
                  </a:txBody>
                  <a:tcPr marL="91440" marR="91440" marT="45720" marB="45720">
                    <a:lnR w="9525">
                      <a:solidFill>
                        <a:srgbClr val="CFD9E3"/>
                      </a:solidFill>
                      <a:prstDash val="solid"/>
                    </a:lnR>
                    <a:lnB w="9525">
                      <a:solidFill>
                        <a:srgbClr val="CFD9E3"/>
                      </a:solidFill>
                      <a:prstDash val="solid"/>
                    </a:lnB>
                    <a:solidFill>
                      <a:srgbClr val="F0F5F9"/>
                    </a:solidFill>
                  </a:tcPr>
                </a:tc>
                <a:tc>
                  <a:txBody>
                    <a:bodyPr/>
                    <a:lstStyle/>
                    <a:p>
                      <a:r>
                        <a:rPr sz="2025" b="0">
                          <a:solidFill>
                            <a:srgbClr val="22344B"/>
                          </a:solidFill>
                          <a:latin typeface="Arial"/>
                          <a:ea typeface="Arial"/>
                          <a:cs typeface="Arial"/>
                        </a:rPr>
                        <a:t>0</a:t>
                      </a:r>
                    </a:p>
                  </a:txBody>
                  <a:tcPr marL="91440" marR="91440" marT="45720" marB="45720">
                    <a:lnR w="9525">
                      <a:solidFill>
                        <a:srgbClr val="CFD9E3"/>
                      </a:solidFill>
                      <a:prstDash val="solid"/>
                    </a:lnR>
                    <a:lnB w="9525">
                      <a:solidFill>
                        <a:srgbClr val="CFD9E3"/>
                      </a:solidFill>
                      <a:prstDash val="solid"/>
                    </a:lnB>
                    <a:solidFill>
                      <a:srgbClr val="F0F5F9"/>
                    </a:solidFill>
                  </a:tcPr>
                </a:tc>
                <a:tc>
                  <a:txBody>
                    <a:bodyPr/>
                    <a:lstStyle/>
                    <a:p>
                      <a:r>
                        <a:rPr sz="2025" b="0">
                          <a:solidFill>
                            <a:srgbClr val="22344B"/>
                          </a:solidFill>
                          <a:latin typeface="Arial"/>
                          <a:ea typeface="Arial"/>
                          <a:cs typeface="Arial"/>
                        </a:rPr>
                        <a:t>256</a:t>
                      </a:r>
                    </a:p>
                  </a:txBody>
                  <a:tcPr marL="91440" marR="91440" marT="45720" marB="45720">
                    <a:lnR w="9525">
                      <a:solidFill>
                        <a:srgbClr val="CFD9E3"/>
                      </a:solidFill>
                      <a:prstDash val="solid"/>
                    </a:lnR>
                    <a:lnB w="9525">
                      <a:solidFill>
                        <a:srgbClr val="CFD9E3"/>
                      </a:solidFill>
                      <a:prstDash val="solid"/>
                    </a:lnB>
                    <a:solidFill>
                      <a:srgbClr val="F0F5F9"/>
                    </a:solidFill>
                  </a:tcPr>
                </a:tc>
                <a:tc>
                  <a:txBody>
                    <a:bodyPr/>
                    <a:lstStyle/>
                    <a:p>
                      <a:r>
                        <a:rPr sz="2025" b="0">
                          <a:solidFill>
                            <a:srgbClr val="22344B"/>
                          </a:solidFill>
                          <a:latin typeface="Arial"/>
                          <a:ea typeface="Arial"/>
                          <a:cs typeface="Arial"/>
                        </a:rPr>
                        <a:t>0</a:t>
                      </a:r>
                    </a:p>
                  </a:txBody>
                  <a:tcPr marL="91440" marR="91440" marT="45720" marB="45720">
                    <a:lnR w="9525">
                      <a:solidFill>
                        <a:srgbClr val="CFD9E3"/>
                      </a:solidFill>
                      <a:prstDash val="solid"/>
                    </a:lnR>
                    <a:lnB w="9525">
                      <a:solidFill>
                        <a:srgbClr val="CFD9E3"/>
                      </a:solidFill>
                      <a:prstDash val="solid"/>
                    </a:lnB>
                    <a:solidFill>
                      <a:srgbClr val="F0F5F9"/>
                    </a:solidFill>
                  </a:tcPr>
                </a:tc>
              </a:tr>
            </a:tbl>
          </a:graphicData>
        </a:graphic>
      </p:graphicFrame>
      <p:sp>
        <p:nvSpPr>
          <p:cNvPr id="6" name="">
            <a:extLst xmlns:a="http://schemas.openxmlformats.org/drawingml/2006/main">
              <a:ext uri="{FF2B5EF4-FFF2-40B4-BE49-F238E27FC236}">
                <a16:creationId xmlns:a16="http://schemas.microsoft.com/office/drawing/2014/main" id="{EE4D6DF7-0A12-4B70-897D-FCD0C6004B6E}"/>
              </a:ext>
            </a:extLst>
          </p:cNvPr>
          <p:cNvSpPr>
            <a:spLocks xmlns:a="http://schemas.openxmlformats.org/drawingml/2006/main" noGrp="1"/>
          </p:cNvSpPr>
          <p:nvPr/>
        </p:nvSpPr>
        <p:spPr>
          <a:xfrm xmlns:a="http://schemas.openxmlformats.org/drawingml/2006/main">
            <a:off x="666750" y="4714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Isolation Forest</a:t>
            </a:r>
          </a:p>
        </p:txBody>
      </p:sp>
      <p:sp>
        <p:nvSpPr>
          <p:cNvPr id="7" name="">
            <a:extLst xmlns:a="http://schemas.openxmlformats.org/drawingml/2006/main">
              <a:ext uri="{FF2B5EF4-FFF2-40B4-BE49-F238E27FC236}">
                <a16:creationId xmlns:a16="http://schemas.microsoft.com/office/drawing/2014/main" id="{09AF1863-3AA1-4DFB-8F7E-8EC8DE792E3B}"/>
              </a:ext>
            </a:extLst>
          </p:cNvPr>
          <p:cNvSpPr>
            <a:spLocks xmlns:a="http://schemas.openxmlformats.org/drawingml/2006/main" noGrp="1"/>
          </p:cNvSpPr>
          <p:nvPr/>
        </p:nvSpPr>
        <p:spPr>
          <a:xfrm xmlns:a="http://schemas.openxmlformats.org/drawingml/2006/main">
            <a:off x="3905250" y="4714875"/>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2344B"/>
                </a:solidFill>
                <a:latin typeface="Arial"/>
                <a:ea typeface="Arial"/>
                <a:cs typeface="Arial"/>
              </a:defRPr>
            </a:defPPr>
            <a:lvl1pPr>
              <a:defRPr sz="2100" b="0">
                <a:solidFill>
                  <a:srgbClr val="22344B"/>
                </a:solidFill>
                <a:latin typeface="Arial"/>
                <a:ea typeface="Arial"/>
                <a:cs typeface="Arial"/>
              </a:defRPr>
            </a:lvl1pPr>
            <a:lvl2pPr>
              <a:defRPr sz="2100" b="0">
                <a:solidFill>
                  <a:srgbClr val="22344B"/>
                </a:solidFill>
                <a:latin typeface="Arial"/>
                <a:ea typeface="Arial"/>
                <a:cs typeface="Arial"/>
              </a:defRPr>
            </a:lvl2pPr>
            <a:lvl3pPr>
              <a:defRPr sz="2100" b="0">
                <a:solidFill>
                  <a:srgbClr val="22344B"/>
                </a:solidFill>
                <a:latin typeface="Arial"/>
                <a:ea typeface="Arial"/>
                <a:cs typeface="Arial"/>
              </a:defRPr>
            </a:lvl3pPr>
            <a:lvl4pPr>
              <a:defRPr sz="2100" b="0">
                <a:solidFill>
                  <a:srgbClr val="22344B"/>
                </a:solidFill>
                <a:latin typeface="Arial"/>
                <a:ea typeface="Arial"/>
                <a:cs typeface="Arial"/>
              </a:defRPr>
            </a:lvl4pPr>
            <a:lvl5pPr>
              <a:defRPr sz="2100" b="0">
                <a:solidFill>
                  <a:srgbClr val="22344B"/>
                </a:solidFill>
                <a:latin typeface="Arial"/>
                <a:ea typeface="Arial"/>
                <a:cs typeface="Arial"/>
              </a:defRPr>
            </a:lvl5pPr>
            <a:lvl6pPr>
              <a:defRPr sz="2100" b="0">
                <a:solidFill>
                  <a:srgbClr val="22344B"/>
                </a:solidFill>
                <a:latin typeface="Arial"/>
                <a:ea typeface="Arial"/>
                <a:cs typeface="Arial"/>
              </a:defRPr>
            </a:lvl6pPr>
            <a:lvl7pPr>
              <a:defRPr sz="2100" b="0">
                <a:solidFill>
                  <a:srgbClr val="22344B"/>
                </a:solidFill>
                <a:latin typeface="Arial"/>
                <a:ea typeface="Arial"/>
                <a:cs typeface="Arial"/>
              </a:defRPr>
            </a:lvl7pPr>
            <a:lvl8pPr>
              <a:defRPr sz="2100" b="0">
                <a:solidFill>
                  <a:srgbClr val="22344B"/>
                </a:solidFill>
                <a:latin typeface="Arial"/>
                <a:ea typeface="Arial"/>
                <a:cs typeface="Arial"/>
              </a:defRPr>
            </a:lvl8pPr>
            <a:lvl9pPr>
              <a:defRPr sz="2100" b="0">
                <a:solidFill>
                  <a:srgbClr val="22344B"/>
                </a:solidFill>
                <a:latin typeface="Arial"/>
                <a:ea typeface="Arial"/>
                <a:cs typeface="Arial"/>
              </a:defRPr>
            </a:lvl9pPr>
          </a:lstStyle>
          <a:p xmlns:a="http://schemas.openxmlformats.org/drawingml/2006/main">
            <a:pPr>
              <a:defRPr sz="2100" b="0">
                <a:solidFill>
                  <a:srgbClr val="22344B"/>
                </a:solidFill>
                <a:latin typeface="Arial"/>
                <a:ea typeface="Arial"/>
                <a:cs typeface="Arial"/>
              </a:defRPr>
            </a:pPr>
            <a:r>
              <a:rPr sz="2100" b="0">
                <a:solidFill>
                  <a:srgbClr val="22344B"/>
                </a:solidFill>
                <a:latin typeface="Arial"/>
                <a:ea typeface="Arial"/>
                <a:cs typeface="Arial"/>
              </a:rPr>
              <a:t>Precision  0.9624       Recall  1.0000       F1  0.9808</a:t>
            </a:r>
          </a:p>
        </p:txBody>
      </p:sp>
      <p:sp>
        <p:nvSpPr>
          <p:cNvPr id="8" name="">
            <a:extLst xmlns:a="http://schemas.openxmlformats.org/drawingml/2006/main">
              <a:ext uri="{FF2B5EF4-FFF2-40B4-BE49-F238E27FC236}">
                <a16:creationId xmlns:a16="http://schemas.microsoft.com/office/drawing/2014/main" id="{4DCDF32E-2285-4BD0-9E15-66C850348312}"/>
              </a:ext>
            </a:extLst>
          </p:cNvPr>
          <p:cNvSpPr>
            <a:spLocks xmlns:a="http://schemas.openxmlformats.org/drawingml/2006/main" noGrp="1"/>
          </p:cNvSpPr>
          <p:nvPr/>
        </p:nvSpPr>
        <p:spPr>
          <a:xfrm xmlns:a="http://schemas.openxmlformats.org/drawingml/2006/main">
            <a:off x="666750" y="54673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96B7E"/>
                </a:solidFill>
                <a:latin typeface="Arial"/>
                <a:ea typeface="Arial"/>
                <a:cs typeface="Arial"/>
              </a:defRPr>
            </a:defPPr>
            <a:lvl1pPr>
              <a:defRPr sz="2025" b="0">
                <a:solidFill>
                  <a:srgbClr val="596B7E"/>
                </a:solidFill>
                <a:latin typeface="Arial"/>
                <a:ea typeface="Arial"/>
                <a:cs typeface="Arial"/>
              </a:defRPr>
            </a:lvl1pPr>
            <a:lvl2pPr>
              <a:defRPr sz="2025" b="0">
                <a:solidFill>
                  <a:srgbClr val="596B7E"/>
                </a:solidFill>
                <a:latin typeface="Arial"/>
                <a:ea typeface="Arial"/>
                <a:cs typeface="Arial"/>
              </a:defRPr>
            </a:lvl2pPr>
            <a:lvl3pPr>
              <a:defRPr sz="2025" b="0">
                <a:solidFill>
                  <a:srgbClr val="596B7E"/>
                </a:solidFill>
                <a:latin typeface="Arial"/>
                <a:ea typeface="Arial"/>
                <a:cs typeface="Arial"/>
              </a:defRPr>
            </a:lvl3pPr>
            <a:lvl4pPr>
              <a:defRPr sz="2025" b="0">
                <a:solidFill>
                  <a:srgbClr val="596B7E"/>
                </a:solidFill>
                <a:latin typeface="Arial"/>
                <a:ea typeface="Arial"/>
                <a:cs typeface="Arial"/>
              </a:defRPr>
            </a:lvl4pPr>
            <a:lvl5pPr>
              <a:defRPr sz="2025" b="0">
                <a:solidFill>
                  <a:srgbClr val="596B7E"/>
                </a:solidFill>
                <a:latin typeface="Arial"/>
                <a:ea typeface="Arial"/>
                <a:cs typeface="Arial"/>
              </a:defRPr>
            </a:lvl5pPr>
            <a:lvl6pPr>
              <a:defRPr sz="2025" b="0">
                <a:solidFill>
                  <a:srgbClr val="596B7E"/>
                </a:solidFill>
                <a:latin typeface="Arial"/>
                <a:ea typeface="Arial"/>
                <a:cs typeface="Arial"/>
              </a:defRPr>
            </a:lvl6pPr>
            <a:lvl7pPr>
              <a:defRPr sz="2025" b="0">
                <a:solidFill>
                  <a:srgbClr val="596B7E"/>
                </a:solidFill>
                <a:latin typeface="Arial"/>
                <a:ea typeface="Arial"/>
                <a:cs typeface="Arial"/>
              </a:defRPr>
            </a:lvl7pPr>
            <a:lvl8pPr>
              <a:defRPr sz="2025" b="0">
                <a:solidFill>
                  <a:srgbClr val="596B7E"/>
                </a:solidFill>
                <a:latin typeface="Arial"/>
                <a:ea typeface="Arial"/>
                <a:cs typeface="Arial"/>
              </a:defRPr>
            </a:lvl8pPr>
            <a:lvl9pPr>
              <a:defRPr sz="2025" b="0">
                <a:solidFill>
                  <a:srgbClr val="596B7E"/>
                </a:solidFill>
                <a:latin typeface="Arial"/>
                <a:ea typeface="Arial"/>
                <a:cs typeface="Arial"/>
              </a:defRPr>
            </a:lvl9pPr>
          </a:lstStyle>
          <a:p xmlns:a="http://schemas.openxmlformats.org/drawingml/2006/main">
            <a:pPr>
              <a:defRPr sz="2025" b="0">
                <a:solidFill>
                  <a:srgbClr val="596B7E"/>
                </a:solidFill>
                <a:latin typeface="Arial"/>
                <a:ea typeface="Arial"/>
                <a:cs typeface="Arial"/>
              </a:defRPr>
            </a:pPr>
            <a:r>
              <a:rPr sz="2025" b="0">
                <a:solidFill>
                  <a:srgbClr val="596B7E"/>
                </a:solidFill>
                <a:latin typeface="Arial"/>
                <a:ea typeface="Arial"/>
                <a:cs typeface="Arial"/>
              </a:rPr>
              <a:t>The rule baseline performs better on this synthetic holdout.</a:t>
            </a:r>
          </a:p>
          <a:p xmlns:a="http://schemas.openxmlformats.org/drawingml/2006/main">
            <a:pPr>
              <a:defRPr sz="2025" b="0">
                <a:solidFill>
                  <a:srgbClr val="596B7E"/>
                </a:solidFill>
                <a:latin typeface="Arial"/>
                <a:ea typeface="Arial"/>
                <a:cs typeface="Arial"/>
              </a:defRPr>
            </a:pPr>
            <a:r>
              <a:rPr sz="2025" b="0">
                <a:solidFill>
                  <a:srgbClr val="596B7E"/>
                </a:solidFill>
                <a:latin typeface="Arial"/>
                <a:ea typeface="Arial"/>
                <a:cs typeface="Arial"/>
              </a:rPr>
              <a:t>Real machine data is required to assess field performance.</a:t>
            </a:r>
          </a:p>
        </p:txBody>
      </p:sp>
    </p:spTree>
    <p:extLst>
      <p:ext uri="{BB962C8B-B14F-4D97-AF65-F5344CB8AC3E}">
        <p14:creationId xmlns:p14="http://schemas.microsoft.com/office/powerpoint/2010/main" val="143156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2C356E-23B8-4B20-9035-8901525BACCB}"/>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E"/>
                </a:solidFill>
                <a:latin typeface="Arial"/>
                <a:ea typeface="Arial"/>
                <a:cs typeface="Arial"/>
              </a:defRPr>
            </a:defPPr>
            <a:lvl1pPr>
              <a:defRPr sz="3300" b="1">
                <a:solidFill>
                  <a:srgbClr val="142D4E"/>
                </a:solidFill>
                <a:latin typeface="Arial"/>
                <a:ea typeface="Arial"/>
                <a:cs typeface="Arial"/>
              </a:defRPr>
            </a:lvl1pPr>
            <a:lvl2pPr>
              <a:defRPr sz="3300" b="1">
                <a:solidFill>
                  <a:srgbClr val="142D4E"/>
                </a:solidFill>
                <a:latin typeface="Arial"/>
                <a:ea typeface="Arial"/>
                <a:cs typeface="Arial"/>
              </a:defRPr>
            </a:lvl2pPr>
            <a:lvl3pPr>
              <a:defRPr sz="3300" b="1">
                <a:solidFill>
                  <a:srgbClr val="142D4E"/>
                </a:solidFill>
                <a:latin typeface="Arial"/>
                <a:ea typeface="Arial"/>
                <a:cs typeface="Arial"/>
              </a:defRPr>
            </a:lvl3pPr>
            <a:lvl4pPr>
              <a:defRPr sz="3300" b="1">
                <a:solidFill>
                  <a:srgbClr val="142D4E"/>
                </a:solidFill>
                <a:latin typeface="Arial"/>
                <a:ea typeface="Arial"/>
                <a:cs typeface="Arial"/>
              </a:defRPr>
            </a:lvl4pPr>
            <a:lvl5pPr>
              <a:defRPr sz="3300" b="1">
                <a:solidFill>
                  <a:srgbClr val="142D4E"/>
                </a:solidFill>
                <a:latin typeface="Arial"/>
                <a:ea typeface="Arial"/>
                <a:cs typeface="Arial"/>
              </a:defRPr>
            </a:lvl5pPr>
            <a:lvl6pPr>
              <a:defRPr sz="3300" b="1">
                <a:solidFill>
                  <a:srgbClr val="142D4E"/>
                </a:solidFill>
                <a:latin typeface="Arial"/>
                <a:ea typeface="Arial"/>
                <a:cs typeface="Arial"/>
              </a:defRPr>
            </a:lvl6pPr>
            <a:lvl7pPr>
              <a:defRPr sz="3300" b="1">
                <a:solidFill>
                  <a:srgbClr val="142D4E"/>
                </a:solidFill>
                <a:latin typeface="Arial"/>
                <a:ea typeface="Arial"/>
                <a:cs typeface="Arial"/>
              </a:defRPr>
            </a:lvl7pPr>
            <a:lvl8pPr>
              <a:defRPr sz="3300" b="1">
                <a:solidFill>
                  <a:srgbClr val="142D4E"/>
                </a:solidFill>
                <a:latin typeface="Arial"/>
                <a:ea typeface="Arial"/>
                <a:cs typeface="Arial"/>
              </a:defRPr>
            </a:lvl8pPr>
            <a:lvl9pPr>
              <a:defRPr sz="3300" b="1">
                <a:solidFill>
                  <a:srgbClr val="142D4E"/>
                </a:solidFill>
                <a:latin typeface="Arial"/>
                <a:ea typeface="Arial"/>
                <a:cs typeface="Arial"/>
              </a:defRPr>
            </a:lvl9pPr>
          </a:lstStyle>
          <a:p xmlns:a="http://schemas.openxmlformats.org/drawingml/2006/main">
            <a:pPr>
              <a:defRPr sz="3300" b="1">
                <a:solidFill>
                  <a:srgbClr val="142D4E"/>
                </a:solidFill>
                <a:latin typeface="Arial"/>
                <a:ea typeface="Arial"/>
                <a:cs typeface="Arial"/>
              </a:defRPr>
            </a:pPr>
            <a:r>
              <a:rPr sz="3300" b="1">
                <a:solidFill>
                  <a:srgbClr val="142D4E"/>
                </a:solidFill>
                <a:latin typeface="Arial"/>
                <a:ea typeface="Arial"/>
                <a:cs typeface="Arial"/>
              </a:rPr>
              <a:t>Validation and performance</a:t>
            </a:r>
          </a:p>
        </p:txBody>
      </p:sp>
      <p:sp>
        <p:nvSpPr>
          <p:cNvPr id="2" name="">
            <a:extLst xmlns:a="http://schemas.openxmlformats.org/drawingml/2006/main">
              <a:ext uri="{FF2B5EF4-FFF2-40B4-BE49-F238E27FC236}">
                <a16:creationId xmlns:a16="http://schemas.microsoft.com/office/drawing/2014/main" id="{162C0CEB-7CCC-4009-86FF-53A29FB91726}"/>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47E8098C-3ABA-4C6C-8EF3-89D85200078C}"/>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96B7E"/>
                </a:solidFill>
                <a:latin typeface="Arial"/>
                <a:ea typeface="Arial"/>
                <a:cs typeface="Arial"/>
              </a:defRPr>
            </a:defPPr>
            <a:lvl1pPr>
              <a:defRPr sz="1275" b="0">
                <a:solidFill>
                  <a:srgbClr val="596B7E"/>
                </a:solidFill>
                <a:latin typeface="Arial"/>
                <a:ea typeface="Arial"/>
                <a:cs typeface="Arial"/>
              </a:defRPr>
            </a:lvl1pPr>
            <a:lvl2pPr>
              <a:defRPr sz="1275" b="0">
                <a:solidFill>
                  <a:srgbClr val="596B7E"/>
                </a:solidFill>
                <a:latin typeface="Arial"/>
                <a:ea typeface="Arial"/>
                <a:cs typeface="Arial"/>
              </a:defRPr>
            </a:lvl2pPr>
            <a:lvl3pPr>
              <a:defRPr sz="1275" b="0">
                <a:solidFill>
                  <a:srgbClr val="596B7E"/>
                </a:solidFill>
                <a:latin typeface="Arial"/>
                <a:ea typeface="Arial"/>
                <a:cs typeface="Arial"/>
              </a:defRPr>
            </a:lvl3pPr>
            <a:lvl4pPr>
              <a:defRPr sz="1275" b="0">
                <a:solidFill>
                  <a:srgbClr val="596B7E"/>
                </a:solidFill>
                <a:latin typeface="Arial"/>
                <a:ea typeface="Arial"/>
                <a:cs typeface="Arial"/>
              </a:defRPr>
            </a:lvl4pPr>
            <a:lvl5pPr>
              <a:defRPr sz="1275" b="0">
                <a:solidFill>
                  <a:srgbClr val="596B7E"/>
                </a:solidFill>
                <a:latin typeface="Arial"/>
                <a:ea typeface="Arial"/>
                <a:cs typeface="Arial"/>
              </a:defRPr>
            </a:lvl5pPr>
            <a:lvl6pPr>
              <a:defRPr sz="1275" b="0">
                <a:solidFill>
                  <a:srgbClr val="596B7E"/>
                </a:solidFill>
                <a:latin typeface="Arial"/>
                <a:ea typeface="Arial"/>
                <a:cs typeface="Arial"/>
              </a:defRPr>
            </a:lvl6pPr>
            <a:lvl7pPr>
              <a:defRPr sz="1275" b="0">
                <a:solidFill>
                  <a:srgbClr val="596B7E"/>
                </a:solidFill>
                <a:latin typeface="Arial"/>
                <a:ea typeface="Arial"/>
                <a:cs typeface="Arial"/>
              </a:defRPr>
            </a:lvl7pPr>
            <a:lvl8pPr>
              <a:defRPr sz="1275" b="0">
                <a:solidFill>
                  <a:srgbClr val="596B7E"/>
                </a:solidFill>
                <a:latin typeface="Arial"/>
                <a:ea typeface="Arial"/>
                <a:cs typeface="Arial"/>
              </a:defRPr>
            </a:lvl8pPr>
            <a:lvl9pPr>
              <a:defRPr sz="1275" b="0">
                <a:solidFill>
                  <a:srgbClr val="596B7E"/>
                </a:solidFill>
                <a:latin typeface="Arial"/>
                <a:ea typeface="Arial"/>
                <a:cs typeface="Arial"/>
              </a:defRPr>
            </a:lvl9pPr>
          </a:lstStyle>
          <a:p xmlns:a="http://schemas.openxmlformats.org/drawingml/2006/main">
            <a:pPr>
              <a:defRPr sz="1275" b="0">
                <a:solidFill>
                  <a:srgbClr val="596B7E"/>
                </a:solidFill>
                <a:latin typeface="Arial"/>
                <a:ea typeface="Arial"/>
                <a:cs typeface="Arial"/>
              </a:defRPr>
            </a:pPr>
            <a:r>
              <a:rPr sz="1275" b="0">
                <a:solidFill>
                  <a:srgbClr val="596B7E"/>
                </a:solidFill>
                <a:latin typeface="Arial"/>
                <a:ea typeface="Arial"/>
                <a:cs typeface="Arial"/>
              </a:rPr>
              <a:t>09 / 10</a:t>
            </a:r>
          </a:p>
        </p:txBody>
      </p:sp>
      <p:sp>
        <p:nvSpPr>
          <p:cNvPr id="4" name="">
            <a:extLst xmlns:a="http://schemas.openxmlformats.org/drawingml/2006/main">
              <a:ext uri="{FF2B5EF4-FFF2-40B4-BE49-F238E27FC236}">
                <a16:creationId xmlns:a16="http://schemas.microsoft.com/office/drawing/2014/main" id="{8E5E3EAA-C0BD-4E6E-8AE7-901A537493B1}"/>
              </a:ext>
            </a:extLst>
          </p:cNvPr>
          <p:cNvSpPr>
            <a:spLocks xmlns:a="http://schemas.openxmlformats.org/drawingml/2006/main" noGrp="1"/>
          </p:cNvSpPr>
          <p:nvPr/>
        </p:nvSpPr>
        <p:spPr>
          <a:xfrm xmlns:a="http://schemas.openxmlformats.org/drawingml/2006/main">
            <a:off x="666750" y="1504950"/>
            <a:ext cx="542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87F8C"/>
                </a:solidFill>
                <a:latin typeface="Arial"/>
                <a:ea typeface="Arial"/>
                <a:cs typeface="Arial"/>
              </a:defRPr>
            </a:defPPr>
            <a:lvl1pPr>
              <a:defRPr sz="2625" b="1">
                <a:solidFill>
                  <a:srgbClr val="087F8C"/>
                </a:solidFill>
                <a:latin typeface="Arial"/>
                <a:ea typeface="Arial"/>
                <a:cs typeface="Arial"/>
              </a:defRPr>
            </a:lvl1pPr>
            <a:lvl2pPr>
              <a:defRPr sz="2625" b="1">
                <a:solidFill>
                  <a:srgbClr val="087F8C"/>
                </a:solidFill>
                <a:latin typeface="Arial"/>
                <a:ea typeface="Arial"/>
                <a:cs typeface="Arial"/>
              </a:defRPr>
            </a:lvl2pPr>
            <a:lvl3pPr>
              <a:defRPr sz="2625" b="1">
                <a:solidFill>
                  <a:srgbClr val="087F8C"/>
                </a:solidFill>
                <a:latin typeface="Arial"/>
                <a:ea typeface="Arial"/>
                <a:cs typeface="Arial"/>
              </a:defRPr>
            </a:lvl3pPr>
            <a:lvl4pPr>
              <a:defRPr sz="2625" b="1">
                <a:solidFill>
                  <a:srgbClr val="087F8C"/>
                </a:solidFill>
                <a:latin typeface="Arial"/>
                <a:ea typeface="Arial"/>
                <a:cs typeface="Arial"/>
              </a:defRPr>
            </a:lvl4pPr>
            <a:lvl5pPr>
              <a:defRPr sz="2625" b="1">
                <a:solidFill>
                  <a:srgbClr val="087F8C"/>
                </a:solidFill>
                <a:latin typeface="Arial"/>
                <a:ea typeface="Arial"/>
                <a:cs typeface="Arial"/>
              </a:defRPr>
            </a:lvl5pPr>
            <a:lvl6pPr>
              <a:defRPr sz="2625" b="1">
                <a:solidFill>
                  <a:srgbClr val="087F8C"/>
                </a:solidFill>
                <a:latin typeface="Arial"/>
                <a:ea typeface="Arial"/>
                <a:cs typeface="Arial"/>
              </a:defRPr>
            </a:lvl6pPr>
            <a:lvl7pPr>
              <a:defRPr sz="2625" b="1">
                <a:solidFill>
                  <a:srgbClr val="087F8C"/>
                </a:solidFill>
                <a:latin typeface="Arial"/>
                <a:ea typeface="Arial"/>
                <a:cs typeface="Arial"/>
              </a:defRPr>
            </a:lvl7pPr>
            <a:lvl8pPr>
              <a:defRPr sz="2625" b="1">
                <a:solidFill>
                  <a:srgbClr val="087F8C"/>
                </a:solidFill>
                <a:latin typeface="Arial"/>
                <a:ea typeface="Arial"/>
                <a:cs typeface="Arial"/>
              </a:defRPr>
            </a:lvl8pPr>
            <a:lvl9pPr>
              <a:defRPr sz="2625" b="1">
                <a:solidFill>
                  <a:srgbClr val="087F8C"/>
                </a:solidFill>
                <a:latin typeface="Arial"/>
                <a:ea typeface="Arial"/>
                <a:cs typeface="Arial"/>
              </a:defRPr>
            </a:lvl9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28 Python tests passed</a:t>
            </a:r>
          </a:p>
        </p:txBody>
      </p:sp>
      <p:sp>
        <p:nvSpPr>
          <p:cNvPr id="5" name="">
            <a:extLst xmlns:a="http://schemas.openxmlformats.org/drawingml/2006/main">
              <a:ext uri="{FF2B5EF4-FFF2-40B4-BE49-F238E27FC236}">
                <a16:creationId xmlns:a16="http://schemas.microsoft.com/office/drawing/2014/main" id="{7F61E9FD-D2D8-4C11-A614-32DF8FBA068E}"/>
              </a:ext>
            </a:extLst>
          </p:cNvPr>
          <p:cNvSpPr>
            <a:spLocks xmlns:a="http://schemas.openxmlformats.org/drawingml/2006/main" noGrp="1"/>
          </p:cNvSpPr>
          <p:nvPr/>
        </p:nvSpPr>
        <p:spPr>
          <a:xfrm xmlns:a="http://schemas.openxmlformats.org/drawingml/2006/main">
            <a:off x="6381750" y="15049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087F8C"/>
                </a:solidFill>
                <a:latin typeface="Arial"/>
                <a:ea typeface="Arial"/>
                <a:cs typeface="Arial"/>
              </a:defRPr>
            </a:defPPr>
            <a:lvl1pPr>
              <a:defRPr sz="2625" b="1">
                <a:solidFill>
                  <a:srgbClr val="087F8C"/>
                </a:solidFill>
                <a:latin typeface="Arial"/>
                <a:ea typeface="Arial"/>
                <a:cs typeface="Arial"/>
              </a:defRPr>
            </a:lvl1pPr>
            <a:lvl2pPr>
              <a:defRPr sz="2625" b="1">
                <a:solidFill>
                  <a:srgbClr val="087F8C"/>
                </a:solidFill>
                <a:latin typeface="Arial"/>
                <a:ea typeface="Arial"/>
                <a:cs typeface="Arial"/>
              </a:defRPr>
            </a:lvl2pPr>
            <a:lvl3pPr>
              <a:defRPr sz="2625" b="1">
                <a:solidFill>
                  <a:srgbClr val="087F8C"/>
                </a:solidFill>
                <a:latin typeface="Arial"/>
                <a:ea typeface="Arial"/>
                <a:cs typeface="Arial"/>
              </a:defRPr>
            </a:lvl3pPr>
            <a:lvl4pPr>
              <a:defRPr sz="2625" b="1">
                <a:solidFill>
                  <a:srgbClr val="087F8C"/>
                </a:solidFill>
                <a:latin typeface="Arial"/>
                <a:ea typeface="Arial"/>
                <a:cs typeface="Arial"/>
              </a:defRPr>
            </a:lvl4pPr>
            <a:lvl5pPr>
              <a:defRPr sz="2625" b="1">
                <a:solidFill>
                  <a:srgbClr val="087F8C"/>
                </a:solidFill>
                <a:latin typeface="Arial"/>
                <a:ea typeface="Arial"/>
                <a:cs typeface="Arial"/>
              </a:defRPr>
            </a:lvl5pPr>
            <a:lvl6pPr>
              <a:defRPr sz="2625" b="1">
                <a:solidFill>
                  <a:srgbClr val="087F8C"/>
                </a:solidFill>
                <a:latin typeface="Arial"/>
                <a:ea typeface="Arial"/>
                <a:cs typeface="Arial"/>
              </a:defRPr>
            </a:lvl6pPr>
            <a:lvl7pPr>
              <a:defRPr sz="2625" b="1">
                <a:solidFill>
                  <a:srgbClr val="087F8C"/>
                </a:solidFill>
                <a:latin typeface="Arial"/>
                <a:ea typeface="Arial"/>
                <a:cs typeface="Arial"/>
              </a:defRPr>
            </a:lvl7pPr>
            <a:lvl8pPr>
              <a:defRPr sz="2625" b="1">
                <a:solidFill>
                  <a:srgbClr val="087F8C"/>
                </a:solidFill>
                <a:latin typeface="Arial"/>
                <a:ea typeface="Arial"/>
                <a:cs typeface="Arial"/>
              </a:defRPr>
            </a:lvl8pPr>
            <a:lvl9pPr>
              <a:defRPr sz="2625" b="1">
                <a:solidFill>
                  <a:srgbClr val="087F8C"/>
                </a:solidFill>
                <a:latin typeface="Arial"/>
                <a:ea typeface="Arial"/>
                <a:cs typeface="Arial"/>
              </a:defRPr>
            </a:lvl9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11 browser cases passed</a:t>
            </a:r>
          </a:p>
        </p:txBody>
      </p:sp>
      <p:sp>
        <p:nvSpPr>
          <p:cNvPr id="6" name="">
            <a:extLst xmlns:a="http://schemas.openxmlformats.org/drawingml/2006/main">
              <a:ext uri="{FF2B5EF4-FFF2-40B4-BE49-F238E27FC236}">
                <a16:creationId xmlns:a16="http://schemas.microsoft.com/office/drawing/2014/main" id="{F97B431E-FF8E-4BD5-B4A8-3ABCEBB55436}"/>
              </a:ext>
            </a:extLst>
          </p:cNvPr>
          <p:cNvSpPr>
            <a:spLocks xmlns:a="http://schemas.openxmlformats.org/drawingml/2006/main" noGrp="1"/>
          </p:cNvSpPr>
          <p:nvPr/>
        </p:nvSpPr>
        <p:spPr>
          <a:xfrm xmlns:a="http://schemas.openxmlformats.org/drawingml/2006/main">
            <a:off x="666750" y="225742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2344B"/>
                </a:solidFill>
                <a:latin typeface="Arial"/>
                <a:ea typeface="Arial"/>
                <a:cs typeface="Arial"/>
              </a:defRPr>
            </a:defPPr>
            <a:lvl1pPr>
              <a:defRPr sz="2025" b="0">
                <a:solidFill>
                  <a:srgbClr val="22344B"/>
                </a:solidFill>
                <a:latin typeface="Arial"/>
                <a:ea typeface="Arial"/>
                <a:cs typeface="Arial"/>
              </a:defRPr>
            </a:lvl1pPr>
            <a:lvl2pPr>
              <a:defRPr sz="2025" b="0">
                <a:solidFill>
                  <a:srgbClr val="22344B"/>
                </a:solidFill>
                <a:latin typeface="Arial"/>
                <a:ea typeface="Arial"/>
                <a:cs typeface="Arial"/>
              </a:defRPr>
            </a:lvl2pPr>
            <a:lvl3pPr>
              <a:defRPr sz="2025" b="0">
                <a:solidFill>
                  <a:srgbClr val="22344B"/>
                </a:solidFill>
                <a:latin typeface="Arial"/>
                <a:ea typeface="Arial"/>
                <a:cs typeface="Arial"/>
              </a:defRPr>
            </a:lvl3pPr>
            <a:lvl4pPr>
              <a:defRPr sz="2025" b="0">
                <a:solidFill>
                  <a:srgbClr val="22344B"/>
                </a:solidFill>
                <a:latin typeface="Arial"/>
                <a:ea typeface="Arial"/>
                <a:cs typeface="Arial"/>
              </a:defRPr>
            </a:lvl4pPr>
            <a:lvl5pPr>
              <a:defRPr sz="2025" b="0">
                <a:solidFill>
                  <a:srgbClr val="22344B"/>
                </a:solidFill>
                <a:latin typeface="Arial"/>
                <a:ea typeface="Arial"/>
                <a:cs typeface="Arial"/>
              </a:defRPr>
            </a:lvl5pPr>
            <a:lvl6pPr>
              <a:defRPr sz="2025" b="0">
                <a:solidFill>
                  <a:srgbClr val="22344B"/>
                </a:solidFill>
                <a:latin typeface="Arial"/>
                <a:ea typeface="Arial"/>
                <a:cs typeface="Arial"/>
              </a:defRPr>
            </a:lvl6pPr>
            <a:lvl7pPr>
              <a:defRPr sz="2025" b="0">
                <a:solidFill>
                  <a:srgbClr val="22344B"/>
                </a:solidFill>
                <a:latin typeface="Arial"/>
                <a:ea typeface="Arial"/>
                <a:cs typeface="Arial"/>
              </a:defRPr>
            </a:lvl7pPr>
            <a:lvl8pPr>
              <a:defRPr sz="2025" b="0">
                <a:solidFill>
                  <a:srgbClr val="22344B"/>
                </a:solidFill>
                <a:latin typeface="Arial"/>
                <a:ea typeface="Arial"/>
                <a:cs typeface="Arial"/>
              </a:defRPr>
            </a:lvl8pPr>
            <a:lvl9pPr>
              <a:defRPr sz="2025" b="0">
                <a:solidFill>
                  <a:srgbClr val="22344B"/>
                </a:solidFill>
                <a:latin typeface="Arial"/>
                <a:ea typeface="Arial"/>
                <a:cs typeface="Arial"/>
              </a:defRPr>
            </a:lvl9pPr>
          </a:lstStyle>
          <a:p xmlns:a="http://schemas.openxmlformats.org/drawingml/2006/main">
            <a:pPr>
              <a:defRPr sz="2025" b="0">
                <a:solidFill>
                  <a:srgbClr val="22344B"/>
                </a:solidFill>
                <a:latin typeface="Arial"/>
                <a:ea typeface="Arial"/>
                <a:cs typeface="Arial"/>
              </a:defRPr>
            </a:pPr>
            <a:r>
              <a:rPr sz="2025" b="0">
                <a:solidFill>
                  <a:srgbClr val="22344B"/>
                </a:solidFill>
                <a:latin typeface="Arial"/>
                <a:ea typeface="Arial"/>
                <a:cs typeface="Arial"/>
              </a:rPr>
              <a:t>Security cases: tampering, replay, wrong key, expiry, revocation and chain outage</a:t>
            </a:r>
          </a:p>
        </p:txBody>
      </p:sp>
      <p:graphicFrame>
        <p:nvGraphicFramePr>
          <p:cNvPr id="7" name="">
            <a:extLst xmlns:a="http://schemas.openxmlformats.org/drawingml/2006/main">
              <a:ext uri="{FF2B5EF4-FFF2-40B4-BE49-F238E27FC236}">
                <a16:creationId xmlns:a16="http://schemas.microsoft.com/office/drawing/2014/main" id="{E3E266DA-FE87-4821-8910-5BA279184278}"/>
              </a:ext>
            </a:extLst>
          </p:cNvPr>
          <p:cNvGraphicFramePr/>
          <p:nvPr/>
        </p:nvGraphicFramePr>
        <p:xfrm>
          <a:off xmlns:a="http://schemas.openxmlformats.org/drawingml/2006/main" x="666750" y="3209925"/>
          <a:ext xmlns:a="http://schemas.openxmlformats.org/drawingml/2006/main" cx="10858500" cy="2152650"/>
        </p:xfrm>
        <a:graphic xmlns:a="http://schemas.openxmlformats.org/drawingml/2006/main">
          <a:graphicData uri="http://schemas.openxmlformats.org/drawingml/2006/table">
            <a:tbl>
              <a:tblPr/>
              <a:tblGrid>
                <a:gridCol w="6953250"/>
                <a:gridCol w="1714500"/>
                <a:gridCol w="2190750"/>
              </a:tblGrid>
              <a:tr h="538163">
                <a:tc>
                  <a:txBody>
                    <a:bodyPr/>
                    <a:lstStyle/>
                    <a:p>
                      <a:r>
                        <a:rPr sz="1800" b="1">
                          <a:solidFill>
                            <a:srgbClr val="FFFFFF"/>
                          </a:solidFill>
                          <a:latin typeface="Arial"/>
                          <a:ea typeface="Arial"/>
                          <a:cs typeface="Arial"/>
                        </a:rPr>
                        <a:t>Local benchmark stage</a:t>
                      </a:r>
                    </a:p>
                  </a:txBody>
                  <a:tcPr marL="91440" marR="91440" marT="45720" marB="45720">
                    <a:lnL w="9525">
                      <a:solidFill>
                        <a:srgbClr val="CFD9E3"/>
                      </a:solidFill>
                      <a:prstDash val="solid"/>
                    </a:lnL>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1800" b="1">
                          <a:solidFill>
                            <a:srgbClr val="FFFFFF"/>
                          </a:solidFill>
                          <a:latin typeface="Arial"/>
                          <a:ea typeface="Arial"/>
                          <a:cs typeface="Arial"/>
                        </a:rPr>
                        <a:t>Samples</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c>
                  <a:txBody>
                    <a:bodyPr/>
                    <a:lstStyle/>
                    <a:p>
                      <a:r>
                        <a:rPr sz="1800" b="1">
                          <a:solidFill>
                            <a:srgbClr val="FFFFFF"/>
                          </a:solidFill>
                          <a:latin typeface="Arial"/>
                          <a:ea typeface="Arial"/>
                          <a:cs typeface="Arial"/>
                        </a:rPr>
                        <a:t>p95 latency</a:t>
                      </a:r>
                    </a:p>
                  </a:txBody>
                  <a:tcPr marL="91440" marR="91440" marT="45720" marB="45720">
                    <a:lnR w="9525">
                      <a:solidFill>
                        <a:srgbClr val="CFD9E3"/>
                      </a:solidFill>
                      <a:prstDash val="solid"/>
                    </a:lnR>
                    <a:lnT w="9525">
                      <a:solidFill>
                        <a:srgbClr val="CFD9E3"/>
                      </a:solidFill>
                      <a:prstDash val="solid"/>
                    </a:lnT>
                    <a:lnB w="9525">
                      <a:solidFill>
                        <a:srgbClr val="CFD9E3"/>
                      </a:solidFill>
                      <a:prstDash val="solid"/>
                    </a:lnB>
                    <a:solidFill>
                      <a:srgbClr val="142D4E"/>
                    </a:solidFill>
                  </a:tcPr>
                </a:tc>
              </a:tr>
              <a:tr h="538163">
                <a:tc>
                  <a:txBody>
                    <a:bodyPr/>
                    <a:lstStyle/>
                    <a:p>
                      <a:r>
                        <a:rPr sz="1800" b="0">
                          <a:solidFill>
                            <a:srgbClr val="22344B"/>
                          </a:solidFill>
                          <a:latin typeface="Arial"/>
                          <a:ea typeface="Arial"/>
                          <a:cs typeface="Arial"/>
                        </a:rPr>
                        <a:t>Grant request to durable commit</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FFFFF"/>
                    </a:solidFill>
                  </a:tcPr>
                </a:tc>
                <a:tc>
                  <a:txBody>
                    <a:bodyPr/>
                    <a:lstStyle/>
                    <a:p>
                      <a:r>
                        <a:rPr sz="1800" b="0">
                          <a:solidFill>
                            <a:srgbClr val="22344B"/>
                          </a:solidFill>
                          <a:latin typeface="Arial"/>
                          <a:ea typeface="Arial"/>
                          <a:cs typeface="Arial"/>
                        </a:rPr>
                        <a:t>10</a:t>
                      </a:r>
                    </a:p>
                  </a:txBody>
                  <a:tcPr marL="91440" marR="91440" marT="45720" marB="45720">
                    <a:lnR w="9525">
                      <a:solidFill>
                        <a:srgbClr val="CFD9E3"/>
                      </a:solidFill>
                      <a:prstDash val="solid"/>
                    </a:lnR>
                    <a:lnB w="9525">
                      <a:solidFill>
                        <a:srgbClr val="CFD9E3"/>
                      </a:solidFill>
                      <a:prstDash val="solid"/>
                    </a:lnB>
                    <a:solidFill>
                      <a:srgbClr val="FFFFFF"/>
                    </a:solidFill>
                  </a:tcPr>
                </a:tc>
                <a:tc>
                  <a:txBody>
                    <a:bodyPr/>
                    <a:lstStyle/>
                    <a:p>
                      <a:r>
                        <a:rPr sz="1800" b="0">
                          <a:solidFill>
                            <a:srgbClr val="22344B"/>
                          </a:solidFill>
                          <a:latin typeface="Arial"/>
                          <a:ea typeface="Arial"/>
                          <a:cs typeface="Arial"/>
                        </a:rPr>
                        <a:t>22.89 ms</a:t>
                      </a:r>
                    </a:p>
                  </a:txBody>
                  <a:tcPr marL="91440" marR="91440" marT="45720" marB="45720">
                    <a:lnR w="9525">
                      <a:solidFill>
                        <a:srgbClr val="CFD9E3"/>
                      </a:solidFill>
                      <a:prstDash val="solid"/>
                    </a:lnR>
                    <a:lnB w="9525">
                      <a:solidFill>
                        <a:srgbClr val="CFD9E3"/>
                      </a:solidFill>
                      <a:prstDash val="solid"/>
                    </a:lnB>
                    <a:solidFill>
                      <a:srgbClr val="FFFFFF"/>
                    </a:solidFill>
                  </a:tcPr>
                </a:tc>
              </a:tr>
              <a:tr h="538163">
                <a:tc>
                  <a:txBody>
                    <a:bodyPr/>
                    <a:lstStyle/>
                    <a:p>
                      <a:r>
                        <a:rPr sz="1800" b="0">
                          <a:solidFill>
                            <a:srgbClr val="22344B"/>
                          </a:solidFill>
                          <a:latin typeface="Arial"/>
                          <a:ea typeface="Arial"/>
                          <a:cs typeface="Arial"/>
                        </a:rPr>
                        <a:t>Signed simulation to encrypted dispatch</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0F5F9"/>
                    </a:solidFill>
                  </a:tcPr>
                </a:tc>
                <a:tc>
                  <a:txBody>
                    <a:bodyPr/>
                    <a:lstStyle/>
                    <a:p>
                      <a:r>
                        <a:rPr sz="1800" b="0">
                          <a:solidFill>
                            <a:srgbClr val="22344B"/>
                          </a:solidFill>
                          <a:latin typeface="Arial"/>
                          <a:ea typeface="Arial"/>
                          <a:cs typeface="Arial"/>
                        </a:rPr>
                        <a:t>40</a:t>
                      </a:r>
                    </a:p>
                  </a:txBody>
                  <a:tcPr marL="91440" marR="91440" marT="45720" marB="45720">
                    <a:lnR w="9525">
                      <a:solidFill>
                        <a:srgbClr val="CFD9E3"/>
                      </a:solidFill>
                      <a:prstDash val="solid"/>
                    </a:lnR>
                    <a:lnB w="9525">
                      <a:solidFill>
                        <a:srgbClr val="CFD9E3"/>
                      </a:solidFill>
                      <a:prstDash val="solid"/>
                    </a:lnB>
                    <a:solidFill>
                      <a:srgbClr val="F0F5F9"/>
                    </a:solidFill>
                  </a:tcPr>
                </a:tc>
                <a:tc>
                  <a:txBody>
                    <a:bodyPr/>
                    <a:lstStyle/>
                    <a:p>
                      <a:r>
                        <a:rPr sz="1800" b="0">
                          <a:solidFill>
                            <a:srgbClr val="22344B"/>
                          </a:solidFill>
                          <a:latin typeface="Arial"/>
                          <a:ea typeface="Arial"/>
                          <a:cs typeface="Arial"/>
                        </a:rPr>
                        <a:t>49.96 ms</a:t>
                      </a:r>
                    </a:p>
                  </a:txBody>
                  <a:tcPr marL="91440" marR="91440" marT="45720" marB="45720">
                    <a:lnR w="9525">
                      <a:solidFill>
                        <a:srgbClr val="CFD9E3"/>
                      </a:solidFill>
                      <a:prstDash val="solid"/>
                    </a:lnR>
                    <a:lnB w="9525">
                      <a:solidFill>
                        <a:srgbClr val="CFD9E3"/>
                      </a:solidFill>
                      <a:prstDash val="solid"/>
                    </a:lnB>
                    <a:solidFill>
                      <a:srgbClr val="F0F5F9"/>
                    </a:solidFill>
                  </a:tcPr>
                </a:tc>
              </a:tr>
              <a:tr h="538163">
                <a:tc>
                  <a:txBody>
                    <a:bodyPr/>
                    <a:lstStyle/>
                    <a:p>
                      <a:r>
                        <a:rPr sz="1800" b="0">
                          <a:solidFill>
                            <a:srgbClr val="22344B"/>
                          </a:solidFill>
                          <a:latin typeface="Arial"/>
                          <a:ea typeface="Arial"/>
                          <a:cs typeface="Arial"/>
                        </a:rPr>
                        <a:t>Authorized envelope retrieval</a:t>
                      </a:r>
                    </a:p>
                  </a:txBody>
                  <a:tcPr marL="91440" marR="91440" marT="45720" marB="45720">
                    <a:lnL w="9525">
                      <a:solidFill>
                        <a:srgbClr val="CFD9E3"/>
                      </a:solidFill>
                      <a:prstDash val="solid"/>
                    </a:lnL>
                    <a:lnR w="9525">
                      <a:solidFill>
                        <a:srgbClr val="CFD9E3"/>
                      </a:solidFill>
                      <a:prstDash val="solid"/>
                    </a:lnR>
                    <a:lnB w="9525">
                      <a:solidFill>
                        <a:srgbClr val="CFD9E3"/>
                      </a:solidFill>
                      <a:prstDash val="solid"/>
                    </a:lnB>
                    <a:solidFill>
                      <a:srgbClr val="FFFFFF"/>
                    </a:solidFill>
                  </a:tcPr>
                </a:tc>
                <a:tc>
                  <a:txBody>
                    <a:bodyPr/>
                    <a:lstStyle/>
                    <a:p>
                      <a:r>
                        <a:rPr sz="1800" b="0">
                          <a:solidFill>
                            <a:srgbClr val="22344B"/>
                          </a:solidFill>
                          <a:latin typeface="Arial"/>
                          <a:ea typeface="Arial"/>
                          <a:cs typeface="Arial"/>
                        </a:rPr>
                        <a:t>40</a:t>
                      </a:r>
                    </a:p>
                  </a:txBody>
                  <a:tcPr marL="91440" marR="91440" marT="45720" marB="45720">
                    <a:lnR w="9525">
                      <a:solidFill>
                        <a:srgbClr val="CFD9E3"/>
                      </a:solidFill>
                      <a:prstDash val="solid"/>
                    </a:lnR>
                    <a:lnB w="9525">
                      <a:solidFill>
                        <a:srgbClr val="CFD9E3"/>
                      </a:solidFill>
                      <a:prstDash val="solid"/>
                    </a:lnB>
                    <a:solidFill>
                      <a:srgbClr val="FFFFFF"/>
                    </a:solidFill>
                  </a:tcPr>
                </a:tc>
                <a:tc>
                  <a:txBody>
                    <a:bodyPr/>
                    <a:lstStyle/>
                    <a:p>
                      <a:r>
                        <a:rPr sz="1800" b="0">
                          <a:solidFill>
                            <a:srgbClr val="22344B"/>
                          </a:solidFill>
                          <a:latin typeface="Arial"/>
                          <a:ea typeface="Arial"/>
                          <a:cs typeface="Arial"/>
                        </a:rPr>
                        <a:t>14.28 ms</a:t>
                      </a:r>
                    </a:p>
                  </a:txBody>
                  <a:tcPr marL="91440" marR="91440" marT="45720" marB="45720">
                    <a:lnR w="9525">
                      <a:solidFill>
                        <a:srgbClr val="CFD9E3"/>
                      </a:solidFill>
                      <a:prstDash val="solid"/>
                    </a:lnR>
                    <a:lnB w="9525">
                      <a:solidFill>
                        <a:srgbClr val="CFD9E3"/>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7ED216A-EFC3-453A-9E4E-BEBC466007A8}"/>
              </a:ext>
            </a:extLst>
          </p:cNvPr>
          <p:cNvSpPr>
            <a:spLocks xmlns:a="http://schemas.openxmlformats.org/drawingml/2006/main" noGrp="1"/>
          </p:cNvSpPr>
          <p:nvPr/>
        </p:nvSpPr>
        <p:spPr>
          <a:xfrm xmlns:a="http://schemas.openxmlformats.org/drawingml/2006/main">
            <a:off x="666750" y="5648325"/>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96B7E"/>
                </a:solidFill>
                <a:latin typeface="Arial"/>
                <a:ea typeface="Arial"/>
                <a:cs typeface="Arial"/>
              </a:defRPr>
            </a:defPPr>
            <a:lvl1pPr>
              <a:defRPr sz="1725" b="0">
                <a:solidFill>
                  <a:srgbClr val="596B7E"/>
                </a:solidFill>
                <a:latin typeface="Arial"/>
                <a:ea typeface="Arial"/>
                <a:cs typeface="Arial"/>
              </a:defRPr>
            </a:lvl1pPr>
            <a:lvl2pPr>
              <a:defRPr sz="1725" b="0">
                <a:solidFill>
                  <a:srgbClr val="596B7E"/>
                </a:solidFill>
                <a:latin typeface="Arial"/>
                <a:ea typeface="Arial"/>
                <a:cs typeface="Arial"/>
              </a:defRPr>
            </a:lvl2pPr>
            <a:lvl3pPr>
              <a:defRPr sz="1725" b="0">
                <a:solidFill>
                  <a:srgbClr val="596B7E"/>
                </a:solidFill>
                <a:latin typeface="Arial"/>
                <a:ea typeface="Arial"/>
                <a:cs typeface="Arial"/>
              </a:defRPr>
            </a:lvl3pPr>
            <a:lvl4pPr>
              <a:defRPr sz="1725" b="0">
                <a:solidFill>
                  <a:srgbClr val="596B7E"/>
                </a:solidFill>
                <a:latin typeface="Arial"/>
                <a:ea typeface="Arial"/>
                <a:cs typeface="Arial"/>
              </a:defRPr>
            </a:lvl4pPr>
            <a:lvl5pPr>
              <a:defRPr sz="1725" b="0">
                <a:solidFill>
                  <a:srgbClr val="596B7E"/>
                </a:solidFill>
                <a:latin typeface="Arial"/>
                <a:ea typeface="Arial"/>
                <a:cs typeface="Arial"/>
              </a:defRPr>
            </a:lvl5pPr>
            <a:lvl6pPr>
              <a:defRPr sz="1725" b="0">
                <a:solidFill>
                  <a:srgbClr val="596B7E"/>
                </a:solidFill>
                <a:latin typeface="Arial"/>
                <a:ea typeface="Arial"/>
                <a:cs typeface="Arial"/>
              </a:defRPr>
            </a:lvl6pPr>
            <a:lvl7pPr>
              <a:defRPr sz="1725" b="0">
                <a:solidFill>
                  <a:srgbClr val="596B7E"/>
                </a:solidFill>
                <a:latin typeface="Arial"/>
                <a:ea typeface="Arial"/>
                <a:cs typeface="Arial"/>
              </a:defRPr>
            </a:lvl7pPr>
            <a:lvl8pPr>
              <a:defRPr sz="1725" b="0">
                <a:solidFill>
                  <a:srgbClr val="596B7E"/>
                </a:solidFill>
                <a:latin typeface="Arial"/>
                <a:ea typeface="Arial"/>
                <a:cs typeface="Arial"/>
              </a:defRPr>
            </a:lvl8pPr>
            <a:lvl9pPr>
              <a:defRPr sz="1725" b="0">
                <a:solidFill>
                  <a:srgbClr val="596B7E"/>
                </a:solidFill>
                <a:latin typeface="Arial"/>
                <a:ea typeface="Arial"/>
                <a:cs typeface="Arial"/>
              </a:defRPr>
            </a:lvl9pPr>
          </a:lstStyle>
          <a:p xmlns:a="http://schemas.openxmlformats.org/drawingml/2006/main">
            <a:pPr>
              <a:defRPr sz="1725" b="0">
                <a:solidFill>
                  <a:srgbClr val="596B7E"/>
                </a:solidFill>
                <a:latin typeface="Arial"/>
                <a:ea typeface="Arial"/>
                <a:cs typeface="Arial"/>
              </a:defRPr>
            </a:pPr>
            <a:r>
              <a:rPr sz="1725" b="0">
                <a:solidFill>
                  <a:srgbClr val="596B7E"/>
                </a:solidFill>
                <a:latin typeface="Arial"/>
                <a:ea typeface="Arial"/>
                <a:cs typeface="Arial"/>
              </a:rPr>
              <a:t>Recorded 26 October 2026. One optional browser case skipped.</a:t>
            </a:r>
          </a:p>
          <a:p xmlns:a="http://schemas.openxmlformats.org/drawingml/2006/main">
            <a:pPr>
              <a:defRPr sz="1725" b="0">
                <a:solidFill>
                  <a:srgbClr val="596B7E"/>
                </a:solidFill>
                <a:latin typeface="Arial"/>
                <a:ea typeface="Arial"/>
                <a:cs typeface="Arial"/>
              </a:defRPr>
            </a:pPr>
            <a:r>
              <a:rPr sz="1725" b="0">
                <a:solidFill>
                  <a:srgbClr val="596B7E"/>
                </a:solidFill>
                <a:latin typeface="Arial"/>
                <a:ea typeface="Arial"/>
                <a:cs typeface="Arial"/>
              </a:rPr>
              <a:t>Single host, sequential bursts. Stage percentiles cannot be added.</a:t>
            </a:r>
          </a:p>
        </p:txBody>
      </p:sp>
    </p:spTree>
    <p:extLst>
      <p:ext uri="{BB962C8B-B14F-4D97-AF65-F5344CB8AC3E}">
        <p14:creationId xmlns:p14="http://schemas.microsoft.com/office/powerpoint/2010/main" val="1134471967"/>
      </p:ext>
    </p:extLst>
  </p:cSld>
</p:sld>
</file>

<file path=ppt/slides/slide10.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0BFE82-7D86-4859-8FB8-72CB55E1CE5C}"/>
              </a:ext>
            </a:extLst>
          </p:cNvPr>
          <p:cNvSpPr>
            <a:spLocks xmlns:a="http://schemas.openxmlformats.org/drawingml/2006/main" noGrp="1"/>
          </p:cNvSpPr>
          <p:nvPr/>
        </p:nvSpPr>
        <p:spPr>
          <a:xfrm xmlns:a="http://schemas.openxmlformats.org/drawingml/2006/main">
            <a:off x="647700" y="4762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Conclusion and future scope</a:t>
            </a:r>
          </a:p>
        </p:txBody>
      </p:sp>
      <p:sp>
        <p:nvSpPr>
          <p:cNvPr id="2" name="">
            <a:extLst xmlns:a="http://schemas.openxmlformats.org/drawingml/2006/main">
              <a:ext uri="{FF2B5EF4-FFF2-40B4-BE49-F238E27FC236}">
                <a16:creationId xmlns:a16="http://schemas.microsoft.com/office/drawing/2014/main" id="{E2AE3E69-EBFB-4CE4-921B-C7047589F85E}"/>
              </a:ext>
            </a:extLst>
          </p:cNvPr>
          <p:cNvSpPr>
            <a:spLocks xmlns:a="http://schemas.openxmlformats.org/drawingml/2006/main" noGrp="1"/>
          </p:cNvSpPr>
          <p:nvPr/>
        </p:nvSpPr>
        <p:spPr>
          <a:xfrm xmlns:a="http://schemas.openxmlformats.org/drawingml/2006/main">
            <a:off x="647700" y="641985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6D7E7"/>
                </a:solidFill>
                <a:latin typeface="Arial"/>
                <a:ea typeface="Arial"/>
                <a:cs typeface="Arial"/>
              </a:defRPr>
            </a:defPPr>
            <a:lvl1pPr>
              <a:defRPr sz="1275" b="0">
                <a:solidFill>
                  <a:srgbClr val="C6D7E7"/>
                </a:solidFill>
                <a:latin typeface="Arial"/>
                <a:ea typeface="Arial"/>
                <a:cs typeface="Arial"/>
              </a:defRPr>
            </a:lvl1pPr>
            <a:lvl2pPr>
              <a:defRPr sz="1275" b="0">
                <a:solidFill>
                  <a:srgbClr val="C6D7E7"/>
                </a:solidFill>
                <a:latin typeface="Arial"/>
                <a:ea typeface="Arial"/>
                <a:cs typeface="Arial"/>
              </a:defRPr>
            </a:lvl2pPr>
            <a:lvl3pPr>
              <a:defRPr sz="1275" b="0">
                <a:solidFill>
                  <a:srgbClr val="C6D7E7"/>
                </a:solidFill>
                <a:latin typeface="Arial"/>
                <a:ea typeface="Arial"/>
                <a:cs typeface="Arial"/>
              </a:defRPr>
            </a:lvl3pPr>
            <a:lvl4pPr>
              <a:defRPr sz="1275" b="0">
                <a:solidFill>
                  <a:srgbClr val="C6D7E7"/>
                </a:solidFill>
                <a:latin typeface="Arial"/>
                <a:ea typeface="Arial"/>
                <a:cs typeface="Arial"/>
              </a:defRPr>
            </a:lvl4pPr>
            <a:lvl5pPr>
              <a:defRPr sz="1275" b="0">
                <a:solidFill>
                  <a:srgbClr val="C6D7E7"/>
                </a:solidFill>
                <a:latin typeface="Arial"/>
                <a:ea typeface="Arial"/>
                <a:cs typeface="Arial"/>
              </a:defRPr>
            </a:lvl5pPr>
            <a:lvl6pPr>
              <a:defRPr sz="1275" b="0">
                <a:solidFill>
                  <a:srgbClr val="C6D7E7"/>
                </a:solidFill>
                <a:latin typeface="Arial"/>
                <a:ea typeface="Arial"/>
                <a:cs typeface="Arial"/>
              </a:defRPr>
            </a:lvl6pPr>
            <a:lvl7pPr>
              <a:defRPr sz="1275" b="0">
                <a:solidFill>
                  <a:srgbClr val="C6D7E7"/>
                </a:solidFill>
                <a:latin typeface="Arial"/>
                <a:ea typeface="Arial"/>
                <a:cs typeface="Arial"/>
              </a:defRPr>
            </a:lvl7pPr>
            <a:lvl8pPr>
              <a:defRPr sz="1275" b="0">
                <a:solidFill>
                  <a:srgbClr val="C6D7E7"/>
                </a:solidFill>
                <a:latin typeface="Arial"/>
                <a:ea typeface="Arial"/>
                <a:cs typeface="Arial"/>
              </a:defRPr>
            </a:lvl8pPr>
            <a:lvl9pPr>
              <a:defRPr sz="1275" b="0">
                <a:solidFill>
                  <a:srgbClr val="C6D7E7"/>
                </a:solidFill>
                <a:latin typeface="Arial"/>
                <a:ea typeface="Arial"/>
                <a:cs typeface="Arial"/>
              </a:defRPr>
            </a:lvl9pPr>
          </a:lstStyle>
          <a:p xmlns:a="http://schemas.openxmlformats.org/drawingml/2006/main">
            <a:pPr>
              <a:defRPr sz="1275" b="0">
                <a:solidFill>
                  <a:srgbClr val="C6D7E7"/>
                </a:solidFill>
                <a:latin typeface="Arial"/>
                <a:ea typeface="Arial"/>
                <a:cs typeface="Arial"/>
              </a:defRPr>
            </a:pPr>
            <a:r>
              <a:rPr sz="1275" b="0">
                <a:solidFill>
                  <a:srgbClr val="C6D7E7"/>
                </a:solidFill>
                <a:latin typeface="Arial"/>
                <a:ea typeface="Arial"/>
                <a:cs typeface="Arial"/>
              </a:rPr>
              <a:t>PrivacyGate AI</a:t>
            </a:r>
          </a:p>
        </p:txBody>
      </p:sp>
      <p:sp>
        <p:nvSpPr>
          <p:cNvPr id="3" name="">
            <a:extLst xmlns:a="http://schemas.openxmlformats.org/drawingml/2006/main">
              <a:ext uri="{FF2B5EF4-FFF2-40B4-BE49-F238E27FC236}">
                <a16:creationId xmlns:a16="http://schemas.microsoft.com/office/drawing/2014/main" id="{0618E7F6-C124-4E42-91CC-D374E572AD5C}"/>
              </a:ext>
            </a:extLst>
          </p:cNvPr>
          <p:cNvSpPr>
            <a:spLocks xmlns:a="http://schemas.openxmlformats.org/drawingml/2006/main" noGrp="1"/>
          </p:cNvSpPr>
          <p:nvPr/>
        </p:nvSpPr>
        <p:spPr>
          <a:xfrm xmlns:a="http://schemas.openxmlformats.org/drawingml/2006/main">
            <a:off x="10572750" y="6419850"/>
            <a:ext cx="100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C6D7E7"/>
                </a:solidFill>
                <a:latin typeface="Arial"/>
                <a:ea typeface="Arial"/>
                <a:cs typeface="Arial"/>
              </a:defRPr>
            </a:defPPr>
            <a:lvl1pPr>
              <a:defRPr sz="1275" b="0">
                <a:solidFill>
                  <a:srgbClr val="C6D7E7"/>
                </a:solidFill>
                <a:latin typeface="Arial"/>
                <a:ea typeface="Arial"/>
                <a:cs typeface="Arial"/>
              </a:defRPr>
            </a:lvl1pPr>
            <a:lvl2pPr>
              <a:defRPr sz="1275" b="0">
                <a:solidFill>
                  <a:srgbClr val="C6D7E7"/>
                </a:solidFill>
                <a:latin typeface="Arial"/>
                <a:ea typeface="Arial"/>
                <a:cs typeface="Arial"/>
              </a:defRPr>
            </a:lvl2pPr>
            <a:lvl3pPr>
              <a:defRPr sz="1275" b="0">
                <a:solidFill>
                  <a:srgbClr val="C6D7E7"/>
                </a:solidFill>
                <a:latin typeface="Arial"/>
                <a:ea typeface="Arial"/>
                <a:cs typeface="Arial"/>
              </a:defRPr>
            </a:lvl3pPr>
            <a:lvl4pPr>
              <a:defRPr sz="1275" b="0">
                <a:solidFill>
                  <a:srgbClr val="C6D7E7"/>
                </a:solidFill>
                <a:latin typeface="Arial"/>
                <a:ea typeface="Arial"/>
                <a:cs typeface="Arial"/>
              </a:defRPr>
            </a:lvl4pPr>
            <a:lvl5pPr>
              <a:defRPr sz="1275" b="0">
                <a:solidFill>
                  <a:srgbClr val="C6D7E7"/>
                </a:solidFill>
                <a:latin typeface="Arial"/>
                <a:ea typeface="Arial"/>
                <a:cs typeface="Arial"/>
              </a:defRPr>
            </a:lvl5pPr>
            <a:lvl6pPr>
              <a:defRPr sz="1275" b="0">
                <a:solidFill>
                  <a:srgbClr val="C6D7E7"/>
                </a:solidFill>
                <a:latin typeface="Arial"/>
                <a:ea typeface="Arial"/>
                <a:cs typeface="Arial"/>
              </a:defRPr>
            </a:lvl6pPr>
            <a:lvl7pPr>
              <a:defRPr sz="1275" b="0">
                <a:solidFill>
                  <a:srgbClr val="C6D7E7"/>
                </a:solidFill>
                <a:latin typeface="Arial"/>
                <a:ea typeface="Arial"/>
                <a:cs typeface="Arial"/>
              </a:defRPr>
            </a:lvl7pPr>
            <a:lvl8pPr>
              <a:defRPr sz="1275" b="0">
                <a:solidFill>
                  <a:srgbClr val="C6D7E7"/>
                </a:solidFill>
                <a:latin typeface="Arial"/>
                <a:ea typeface="Arial"/>
                <a:cs typeface="Arial"/>
              </a:defRPr>
            </a:lvl8pPr>
            <a:lvl9pPr>
              <a:defRPr sz="1275" b="0">
                <a:solidFill>
                  <a:srgbClr val="C6D7E7"/>
                </a:solidFill>
                <a:latin typeface="Arial"/>
                <a:ea typeface="Arial"/>
                <a:cs typeface="Arial"/>
              </a:defRPr>
            </a:lvl9pPr>
          </a:lstStyle>
          <a:p xmlns:a="http://schemas.openxmlformats.org/drawingml/2006/main">
            <a:pPr>
              <a:defRPr sz="1275" b="0">
                <a:solidFill>
                  <a:srgbClr val="C6D7E7"/>
                </a:solidFill>
                <a:latin typeface="Arial"/>
                <a:ea typeface="Arial"/>
                <a:cs typeface="Arial"/>
              </a:defRPr>
            </a:pPr>
            <a:r>
              <a:rPr sz="1275" b="0">
                <a:solidFill>
                  <a:srgbClr val="C6D7E7"/>
                </a:solidFill>
                <a:latin typeface="Arial"/>
                <a:ea typeface="Arial"/>
                <a:cs typeface="Arial"/>
              </a:rPr>
              <a:t>10 / 10</a:t>
            </a:r>
          </a:p>
        </p:txBody>
      </p:sp>
      <p:sp>
        <p:nvSpPr>
          <p:cNvPr id="4" name="">
            <a:extLst xmlns:a="http://schemas.openxmlformats.org/drawingml/2006/main">
              <a:ext uri="{FF2B5EF4-FFF2-40B4-BE49-F238E27FC236}">
                <a16:creationId xmlns:a16="http://schemas.microsoft.com/office/drawing/2014/main" id="{E6CD846F-4607-4BF8-8E74-5182A79BABF0}"/>
              </a:ext>
            </a:extLst>
          </p:cNvPr>
          <p:cNvSpPr>
            <a:spLocks xmlns:a="http://schemas.openxmlformats.org/drawingml/2006/main" noGrp="1"/>
          </p:cNvSpPr>
          <p:nvPr/>
        </p:nvSpPr>
        <p:spPr>
          <a:xfrm xmlns:a="http://schemas.openxmlformats.org/drawingml/2006/main">
            <a:off x="666750" y="155257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89D9DB"/>
                </a:solidFill>
                <a:latin typeface="Arial"/>
                <a:ea typeface="Arial"/>
                <a:cs typeface="Arial"/>
              </a:defRPr>
            </a:defPPr>
            <a:lvl1pPr>
              <a:defRPr sz="2325" b="1">
                <a:solidFill>
                  <a:srgbClr val="89D9DB"/>
                </a:solidFill>
                <a:latin typeface="Arial"/>
                <a:ea typeface="Arial"/>
                <a:cs typeface="Arial"/>
              </a:defRPr>
            </a:lvl1pPr>
            <a:lvl2pPr>
              <a:defRPr sz="2325" b="1">
                <a:solidFill>
                  <a:srgbClr val="89D9DB"/>
                </a:solidFill>
                <a:latin typeface="Arial"/>
                <a:ea typeface="Arial"/>
                <a:cs typeface="Arial"/>
              </a:defRPr>
            </a:lvl2pPr>
            <a:lvl3pPr>
              <a:defRPr sz="2325" b="1">
                <a:solidFill>
                  <a:srgbClr val="89D9DB"/>
                </a:solidFill>
                <a:latin typeface="Arial"/>
                <a:ea typeface="Arial"/>
                <a:cs typeface="Arial"/>
              </a:defRPr>
            </a:lvl3pPr>
            <a:lvl4pPr>
              <a:defRPr sz="2325" b="1">
                <a:solidFill>
                  <a:srgbClr val="89D9DB"/>
                </a:solidFill>
                <a:latin typeface="Arial"/>
                <a:ea typeface="Arial"/>
                <a:cs typeface="Arial"/>
              </a:defRPr>
            </a:lvl4pPr>
            <a:lvl5pPr>
              <a:defRPr sz="2325" b="1">
                <a:solidFill>
                  <a:srgbClr val="89D9DB"/>
                </a:solidFill>
                <a:latin typeface="Arial"/>
                <a:ea typeface="Arial"/>
                <a:cs typeface="Arial"/>
              </a:defRPr>
            </a:lvl5pPr>
            <a:lvl6pPr>
              <a:defRPr sz="2325" b="1">
                <a:solidFill>
                  <a:srgbClr val="89D9DB"/>
                </a:solidFill>
                <a:latin typeface="Arial"/>
                <a:ea typeface="Arial"/>
                <a:cs typeface="Arial"/>
              </a:defRPr>
            </a:lvl6pPr>
            <a:lvl7pPr>
              <a:defRPr sz="2325" b="1">
                <a:solidFill>
                  <a:srgbClr val="89D9DB"/>
                </a:solidFill>
                <a:latin typeface="Arial"/>
                <a:ea typeface="Arial"/>
                <a:cs typeface="Arial"/>
              </a:defRPr>
            </a:lvl7pPr>
            <a:lvl8pPr>
              <a:defRPr sz="2325" b="1">
                <a:solidFill>
                  <a:srgbClr val="89D9DB"/>
                </a:solidFill>
                <a:latin typeface="Arial"/>
                <a:ea typeface="Arial"/>
                <a:cs typeface="Arial"/>
              </a:defRPr>
            </a:lvl8pPr>
            <a:lvl9pPr>
              <a:defRPr sz="2325" b="1">
                <a:solidFill>
                  <a:srgbClr val="89D9DB"/>
                </a:solidFill>
                <a:latin typeface="Arial"/>
                <a:ea typeface="Arial"/>
                <a:cs typeface="Arial"/>
              </a:defRPr>
            </a:lvl9pPr>
          </a:lstStyle>
          <a:p xmlns:a="http://schemas.openxmlformats.org/drawingml/2006/main">
            <a:pPr>
              <a:defRPr sz="2325" b="1">
                <a:solidFill>
                  <a:srgbClr val="89D9DB"/>
                </a:solidFill>
                <a:latin typeface="Arial"/>
                <a:ea typeface="Arial"/>
                <a:cs typeface="Arial"/>
              </a:defRPr>
            </a:pPr>
            <a:r>
              <a:rPr sz="2325" b="1">
                <a:solidFill>
                  <a:srgbClr val="89D9DB"/>
                </a:solidFill>
                <a:latin typeface="Arial"/>
                <a:ea typeface="Arial"/>
                <a:cs typeface="Arial"/>
              </a:rPr>
              <a:t>Conclusion</a:t>
            </a:r>
          </a:p>
        </p:txBody>
      </p:sp>
      <p:sp>
        <p:nvSpPr>
          <p:cNvPr id="5" name="">
            <a:extLst xmlns:a="http://schemas.openxmlformats.org/drawingml/2006/main">
              <a:ext uri="{FF2B5EF4-FFF2-40B4-BE49-F238E27FC236}">
                <a16:creationId xmlns:a16="http://schemas.microsoft.com/office/drawing/2014/main" id="{447A7816-55F9-438D-B2F5-02B805707102}"/>
              </a:ext>
            </a:extLst>
          </p:cNvPr>
          <p:cNvSpPr>
            <a:spLocks xmlns:a="http://schemas.openxmlformats.org/drawingml/2006/main" noGrp="1"/>
          </p:cNvSpPr>
          <p:nvPr/>
        </p:nvSpPr>
        <p:spPr>
          <a:xfrm xmlns:a="http://schemas.openxmlformats.org/drawingml/2006/main">
            <a:off x="666750" y="20764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FFFFFF"/>
                </a:solidFill>
                <a:latin typeface="Arial"/>
                <a:ea typeface="Arial"/>
                <a:cs typeface="Arial"/>
              </a:defRPr>
            </a:defPPr>
            <a:lvl1pPr>
              <a:defRPr sz="2700" b="1">
                <a:solidFill>
                  <a:srgbClr val="FFFFFF"/>
                </a:solidFill>
                <a:latin typeface="Arial"/>
                <a:ea typeface="Arial"/>
                <a:cs typeface="Arial"/>
              </a:defRPr>
            </a:lvl1pPr>
            <a:lvl2pPr>
              <a:defRPr sz="2700" b="1">
                <a:solidFill>
                  <a:srgbClr val="FFFFFF"/>
                </a:solidFill>
                <a:latin typeface="Arial"/>
                <a:ea typeface="Arial"/>
                <a:cs typeface="Arial"/>
              </a:defRPr>
            </a:lvl2pPr>
            <a:lvl3pPr>
              <a:defRPr sz="2700" b="1">
                <a:solidFill>
                  <a:srgbClr val="FFFFFF"/>
                </a:solidFill>
                <a:latin typeface="Arial"/>
                <a:ea typeface="Arial"/>
                <a:cs typeface="Arial"/>
              </a:defRPr>
            </a:lvl3pPr>
            <a:lvl4pPr>
              <a:defRPr sz="2700" b="1">
                <a:solidFill>
                  <a:srgbClr val="FFFFFF"/>
                </a:solidFill>
                <a:latin typeface="Arial"/>
                <a:ea typeface="Arial"/>
                <a:cs typeface="Arial"/>
              </a:defRPr>
            </a:lvl4pPr>
            <a:lvl5pPr>
              <a:defRPr sz="2700" b="1">
                <a:solidFill>
                  <a:srgbClr val="FFFFFF"/>
                </a:solidFill>
                <a:latin typeface="Arial"/>
                <a:ea typeface="Arial"/>
                <a:cs typeface="Arial"/>
              </a:defRPr>
            </a:lvl5pPr>
            <a:lvl6pPr>
              <a:defRPr sz="2700" b="1">
                <a:solidFill>
                  <a:srgbClr val="FFFFFF"/>
                </a:solidFill>
                <a:latin typeface="Arial"/>
                <a:ea typeface="Arial"/>
                <a:cs typeface="Arial"/>
              </a:defRPr>
            </a:lvl6pPr>
            <a:lvl7pPr>
              <a:defRPr sz="2700" b="1">
                <a:solidFill>
                  <a:srgbClr val="FFFFFF"/>
                </a:solidFill>
                <a:latin typeface="Arial"/>
                <a:ea typeface="Arial"/>
                <a:cs typeface="Arial"/>
              </a:defRPr>
            </a:lvl7pPr>
            <a:lvl8pPr>
              <a:defRPr sz="2700" b="1">
                <a:solidFill>
                  <a:srgbClr val="FFFFFF"/>
                </a:solidFill>
                <a:latin typeface="Arial"/>
                <a:ea typeface="Arial"/>
                <a:cs typeface="Arial"/>
              </a:defRPr>
            </a:lvl8pPr>
            <a:lvl9pPr>
              <a:defRPr sz="2700" b="1">
                <a:solidFill>
                  <a:srgbClr val="FFFFFF"/>
                </a:solidFill>
                <a:latin typeface="Arial"/>
                <a:ea typeface="Arial"/>
                <a:cs typeface="Arial"/>
              </a:defRPr>
            </a:lvl9pPr>
          </a:lstStyle>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The MVP demonstrates owner-controlled disclosure</a:t>
            </a:r>
          </a:p>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of encrypted IoT anomaly insights.</a:t>
            </a:r>
          </a:p>
        </p:txBody>
      </p:sp>
      <p:sp>
        <p:nvSpPr>
          <p:cNvPr id="6" name="">
            <a:extLst xmlns:a="http://schemas.openxmlformats.org/drawingml/2006/main">
              <a:ext uri="{FF2B5EF4-FFF2-40B4-BE49-F238E27FC236}">
                <a16:creationId xmlns:a16="http://schemas.microsoft.com/office/drawing/2014/main" id="{5D47ECF5-C2E1-4F84-A272-D668CCE20387}"/>
              </a:ext>
            </a:extLst>
          </p:cNvPr>
          <p:cNvSpPr>
            <a:spLocks xmlns:a="http://schemas.openxmlformats.org/drawingml/2006/main" noGrp="1"/>
          </p:cNvSpPr>
          <p:nvPr/>
        </p:nvSpPr>
        <p:spPr>
          <a:xfrm xmlns:a="http://schemas.openxmlformats.org/drawingml/2006/main">
            <a:off x="666750" y="33909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9D9DB"/>
                </a:solidFill>
                <a:latin typeface="Arial"/>
                <a:ea typeface="Arial"/>
                <a:cs typeface="Arial"/>
              </a:defRPr>
            </a:defPPr>
            <a:lvl1pPr>
              <a:defRPr sz="2175" b="1">
                <a:solidFill>
                  <a:srgbClr val="89D9DB"/>
                </a:solidFill>
                <a:latin typeface="Arial"/>
                <a:ea typeface="Arial"/>
                <a:cs typeface="Arial"/>
              </a:defRPr>
            </a:lvl1pPr>
            <a:lvl2pPr>
              <a:defRPr sz="2175" b="1">
                <a:solidFill>
                  <a:srgbClr val="89D9DB"/>
                </a:solidFill>
                <a:latin typeface="Arial"/>
                <a:ea typeface="Arial"/>
                <a:cs typeface="Arial"/>
              </a:defRPr>
            </a:lvl2pPr>
            <a:lvl3pPr>
              <a:defRPr sz="2175" b="1">
                <a:solidFill>
                  <a:srgbClr val="89D9DB"/>
                </a:solidFill>
                <a:latin typeface="Arial"/>
                <a:ea typeface="Arial"/>
                <a:cs typeface="Arial"/>
              </a:defRPr>
            </a:lvl3pPr>
            <a:lvl4pPr>
              <a:defRPr sz="2175" b="1">
                <a:solidFill>
                  <a:srgbClr val="89D9DB"/>
                </a:solidFill>
                <a:latin typeface="Arial"/>
                <a:ea typeface="Arial"/>
                <a:cs typeface="Arial"/>
              </a:defRPr>
            </a:lvl4pPr>
            <a:lvl5pPr>
              <a:defRPr sz="2175" b="1">
                <a:solidFill>
                  <a:srgbClr val="89D9DB"/>
                </a:solidFill>
                <a:latin typeface="Arial"/>
                <a:ea typeface="Arial"/>
                <a:cs typeface="Arial"/>
              </a:defRPr>
            </a:lvl5pPr>
            <a:lvl6pPr>
              <a:defRPr sz="2175" b="1">
                <a:solidFill>
                  <a:srgbClr val="89D9DB"/>
                </a:solidFill>
                <a:latin typeface="Arial"/>
                <a:ea typeface="Arial"/>
                <a:cs typeface="Arial"/>
              </a:defRPr>
            </a:lvl6pPr>
            <a:lvl7pPr>
              <a:defRPr sz="2175" b="1">
                <a:solidFill>
                  <a:srgbClr val="89D9DB"/>
                </a:solidFill>
                <a:latin typeface="Arial"/>
                <a:ea typeface="Arial"/>
                <a:cs typeface="Arial"/>
              </a:defRPr>
            </a:lvl7pPr>
            <a:lvl8pPr>
              <a:defRPr sz="2175" b="1">
                <a:solidFill>
                  <a:srgbClr val="89D9DB"/>
                </a:solidFill>
                <a:latin typeface="Arial"/>
                <a:ea typeface="Arial"/>
                <a:cs typeface="Arial"/>
              </a:defRPr>
            </a:lvl8pPr>
            <a:lvl9pPr>
              <a:defRPr sz="2175" b="1">
                <a:solidFill>
                  <a:srgbClr val="89D9DB"/>
                </a:solidFill>
                <a:latin typeface="Arial"/>
                <a:ea typeface="Arial"/>
                <a:cs typeface="Arial"/>
              </a:defRPr>
            </a:lvl9pPr>
          </a:lstStyle>
          <a:p xmlns:a="http://schemas.openxmlformats.org/drawingml/2006/main">
            <a:pPr>
              <a:defRPr sz="2175" b="1">
                <a:solidFill>
                  <a:srgbClr val="89D9DB"/>
                </a:solidFill>
                <a:latin typeface="Arial"/>
                <a:ea typeface="Arial"/>
                <a:cs typeface="Arial"/>
              </a:defRPr>
            </a:pPr>
            <a:r>
              <a:rPr sz="2175" b="1">
                <a:solidFill>
                  <a:srgbClr val="89D9DB"/>
                </a:solidFill>
                <a:latin typeface="Arial"/>
                <a:ea typeface="Arial"/>
                <a:cs typeface="Arial"/>
              </a:rPr>
              <a:t>Current limitations</a:t>
            </a:r>
          </a:p>
        </p:txBody>
      </p:sp>
      <p:sp>
        <p:nvSpPr>
          <p:cNvPr id="7" name="">
            <a:extLst xmlns:a="http://schemas.openxmlformats.org/drawingml/2006/main">
              <a:ext uri="{FF2B5EF4-FFF2-40B4-BE49-F238E27FC236}">
                <a16:creationId xmlns:a16="http://schemas.microsoft.com/office/drawing/2014/main" id="{11F922B2-C34C-43CA-A891-AD28A2843F87}"/>
              </a:ext>
            </a:extLst>
          </p:cNvPr>
          <p:cNvSpPr>
            <a:spLocks xmlns:a="http://schemas.openxmlformats.org/drawingml/2006/main" noGrp="1"/>
          </p:cNvSpPr>
          <p:nvPr/>
        </p:nvSpPr>
        <p:spPr>
          <a:xfrm xmlns:a="http://schemas.openxmlformats.org/drawingml/2006/main">
            <a:off x="6572250" y="33909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1">
                <a:solidFill>
                  <a:srgbClr val="89D9DB"/>
                </a:solidFill>
                <a:latin typeface="Arial"/>
                <a:ea typeface="Arial"/>
                <a:cs typeface="Arial"/>
              </a:defRPr>
            </a:defPPr>
            <a:lvl1pPr>
              <a:defRPr sz="2175" b="1">
                <a:solidFill>
                  <a:srgbClr val="89D9DB"/>
                </a:solidFill>
                <a:latin typeface="Arial"/>
                <a:ea typeface="Arial"/>
                <a:cs typeface="Arial"/>
              </a:defRPr>
            </a:lvl1pPr>
            <a:lvl2pPr>
              <a:defRPr sz="2175" b="1">
                <a:solidFill>
                  <a:srgbClr val="89D9DB"/>
                </a:solidFill>
                <a:latin typeface="Arial"/>
                <a:ea typeface="Arial"/>
                <a:cs typeface="Arial"/>
              </a:defRPr>
            </a:lvl2pPr>
            <a:lvl3pPr>
              <a:defRPr sz="2175" b="1">
                <a:solidFill>
                  <a:srgbClr val="89D9DB"/>
                </a:solidFill>
                <a:latin typeface="Arial"/>
                <a:ea typeface="Arial"/>
                <a:cs typeface="Arial"/>
              </a:defRPr>
            </a:lvl3pPr>
            <a:lvl4pPr>
              <a:defRPr sz="2175" b="1">
                <a:solidFill>
                  <a:srgbClr val="89D9DB"/>
                </a:solidFill>
                <a:latin typeface="Arial"/>
                <a:ea typeface="Arial"/>
                <a:cs typeface="Arial"/>
              </a:defRPr>
            </a:lvl4pPr>
            <a:lvl5pPr>
              <a:defRPr sz="2175" b="1">
                <a:solidFill>
                  <a:srgbClr val="89D9DB"/>
                </a:solidFill>
                <a:latin typeface="Arial"/>
                <a:ea typeface="Arial"/>
                <a:cs typeface="Arial"/>
              </a:defRPr>
            </a:lvl5pPr>
            <a:lvl6pPr>
              <a:defRPr sz="2175" b="1">
                <a:solidFill>
                  <a:srgbClr val="89D9DB"/>
                </a:solidFill>
                <a:latin typeface="Arial"/>
                <a:ea typeface="Arial"/>
                <a:cs typeface="Arial"/>
              </a:defRPr>
            </a:lvl6pPr>
            <a:lvl7pPr>
              <a:defRPr sz="2175" b="1">
                <a:solidFill>
                  <a:srgbClr val="89D9DB"/>
                </a:solidFill>
                <a:latin typeface="Arial"/>
                <a:ea typeface="Arial"/>
                <a:cs typeface="Arial"/>
              </a:defRPr>
            </a:lvl7pPr>
            <a:lvl8pPr>
              <a:defRPr sz="2175" b="1">
                <a:solidFill>
                  <a:srgbClr val="89D9DB"/>
                </a:solidFill>
                <a:latin typeface="Arial"/>
                <a:ea typeface="Arial"/>
                <a:cs typeface="Arial"/>
              </a:defRPr>
            </a:lvl8pPr>
            <a:lvl9pPr>
              <a:defRPr sz="2175" b="1">
                <a:solidFill>
                  <a:srgbClr val="89D9DB"/>
                </a:solidFill>
                <a:latin typeface="Arial"/>
                <a:ea typeface="Arial"/>
                <a:cs typeface="Arial"/>
              </a:defRPr>
            </a:lvl9pPr>
          </a:lstStyle>
          <a:p xmlns:a="http://schemas.openxmlformats.org/drawingml/2006/main">
            <a:pPr>
              <a:defRPr sz="2175" b="1">
                <a:solidFill>
                  <a:srgbClr val="89D9DB"/>
                </a:solidFill>
                <a:latin typeface="Arial"/>
                <a:ea typeface="Arial"/>
                <a:cs typeface="Arial"/>
              </a:defRPr>
            </a:pPr>
            <a:r>
              <a:rPr sz="2175" b="1">
                <a:solidFill>
                  <a:srgbClr val="89D9DB"/>
                </a:solidFill>
                <a:latin typeface="Arial"/>
                <a:ea typeface="Arial"/>
                <a:cs typeface="Arial"/>
              </a:rPr>
              <a:t>Future scope</a:t>
            </a:r>
          </a:p>
        </p:txBody>
      </p:sp>
      <p:sp>
        <p:nvSpPr>
          <p:cNvPr id="8" name="">
            <a:extLst xmlns:a="http://schemas.openxmlformats.org/drawingml/2006/main">
              <a:ext uri="{FF2B5EF4-FFF2-40B4-BE49-F238E27FC236}">
                <a16:creationId xmlns:a16="http://schemas.microsoft.com/office/drawing/2014/main" id="{BAE41BF2-FEE9-429A-8830-4882B52D0AA6}"/>
              </a:ext>
            </a:extLst>
          </p:cNvPr>
          <p:cNvSpPr>
            <a:spLocks xmlns:a="http://schemas.openxmlformats.org/drawingml/2006/main" noGrp="1"/>
          </p:cNvSpPr>
          <p:nvPr/>
        </p:nvSpPr>
        <p:spPr>
          <a:xfrm xmlns:a="http://schemas.openxmlformats.org/drawingml/2006/main">
            <a:off x="666750" y="3971925"/>
            <a:ext cx="5048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Trusted gateway and single validator</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Synthetic evaluation data</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Recipient copies remain after revocation</a:t>
            </a:r>
          </a:p>
        </p:txBody>
      </p:sp>
      <p:sp>
        <p:nvSpPr>
          <p:cNvPr id="9" name="">
            <a:extLst xmlns:a="http://schemas.openxmlformats.org/drawingml/2006/main">
              <a:ext uri="{FF2B5EF4-FFF2-40B4-BE49-F238E27FC236}">
                <a16:creationId xmlns:a16="http://schemas.microsoft.com/office/drawing/2014/main" id="{D5EA2417-CFEA-4432-8398-346DD5B518CB}"/>
              </a:ext>
            </a:extLst>
          </p:cNvPr>
          <p:cNvSpPr>
            <a:spLocks xmlns:a="http://schemas.openxmlformats.org/drawingml/2006/main" noGrp="1"/>
          </p:cNvSpPr>
          <p:nvPr/>
        </p:nvSpPr>
        <p:spPr>
          <a:xfrm xmlns:a="http://schemas.openxmlformats.org/drawingml/2006/main">
            <a:off x="6572250" y="3971925"/>
            <a:ext cx="4857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Evaluation with real equipment data</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Multiple independent validators</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Stronger key custody and recovery</a:t>
            </a:r>
          </a:p>
        </p:txBody>
      </p:sp>
      <p:sp>
        <p:nvSpPr>
          <p:cNvPr id="10" name="">
            <a:extLst xmlns:a="http://schemas.openxmlformats.org/drawingml/2006/main">
              <a:ext uri="{FF2B5EF4-FFF2-40B4-BE49-F238E27FC236}">
                <a16:creationId xmlns:a16="http://schemas.microsoft.com/office/drawing/2014/main" id="{38FA406F-EB52-4D2B-917D-A440911FAA0C}"/>
              </a:ext>
            </a:extLst>
          </p:cNvPr>
          <p:cNvSpPr>
            <a:spLocks xmlns:a="http://schemas.openxmlformats.org/drawingml/2006/main" noGrp="1"/>
          </p:cNvSpPr>
          <p:nvPr/>
        </p:nvSpPr>
        <p:spPr>
          <a:xfrm xmlns:a="http://schemas.openxmlformats.org/drawingml/2006/main">
            <a:off x="666750" y="56769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89D9DB"/>
                </a:solidFill>
                <a:latin typeface="Arial"/>
                <a:ea typeface="Arial"/>
                <a:cs typeface="Arial"/>
              </a:defRPr>
            </a:defPPr>
            <a:lvl1pPr>
              <a:defRPr sz="2775" b="1">
                <a:solidFill>
                  <a:srgbClr val="89D9DB"/>
                </a:solidFill>
                <a:latin typeface="Arial"/>
                <a:ea typeface="Arial"/>
                <a:cs typeface="Arial"/>
              </a:defRPr>
            </a:lvl1pPr>
            <a:lvl2pPr>
              <a:defRPr sz="2775" b="1">
                <a:solidFill>
                  <a:srgbClr val="89D9DB"/>
                </a:solidFill>
                <a:latin typeface="Arial"/>
                <a:ea typeface="Arial"/>
                <a:cs typeface="Arial"/>
              </a:defRPr>
            </a:lvl2pPr>
            <a:lvl3pPr>
              <a:defRPr sz="2775" b="1">
                <a:solidFill>
                  <a:srgbClr val="89D9DB"/>
                </a:solidFill>
                <a:latin typeface="Arial"/>
                <a:ea typeface="Arial"/>
                <a:cs typeface="Arial"/>
              </a:defRPr>
            </a:lvl3pPr>
            <a:lvl4pPr>
              <a:defRPr sz="2775" b="1">
                <a:solidFill>
                  <a:srgbClr val="89D9DB"/>
                </a:solidFill>
                <a:latin typeface="Arial"/>
                <a:ea typeface="Arial"/>
                <a:cs typeface="Arial"/>
              </a:defRPr>
            </a:lvl4pPr>
            <a:lvl5pPr>
              <a:defRPr sz="2775" b="1">
                <a:solidFill>
                  <a:srgbClr val="89D9DB"/>
                </a:solidFill>
                <a:latin typeface="Arial"/>
                <a:ea typeface="Arial"/>
                <a:cs typeface="Arial"/>
              </a:defRPr>
            </a:lvl5pPr>
            <a:lvl6pPr>
              <a:defRPr sz="2775" b="1">
                <a:solidFill>
                  <a:srgbClr val="89D9DB"/>
                </a:solidFill>
                <a:latin typeface="Arial"/>
                <a:ea typeface="Arial"/>
                <a:cs typeface="Arial"/>
              </a:defRPr>
            </a:lvl6pPr>
            <a:lvl7pPr>
              <a:defRPr sz="2775" b="1">
                <a:solidFill>
                  <a:srgbClr val="89D9DB"/>
                </a:solidFill>
                <a:latin typeface="Arial"/>
                <a:ea typeface="Arial"/>
                <a:cs typeface="Arial"/>
              </a:defRPr>
            </a:lvl7pPr>
            <a:lvl8pPr>
              <a:defRPr sz="2775" b="1">
                <a:solidFill>
                  <a:srgbClr val="89D9DB"/>
                </a:solidFill>
                <a:latin typeface="Arial"/>
                <a:ea typeface="Arial"/>
                <a:cs typeface="Arial"/>
              </a:defRPr>
            </a:lvl8pPr>
            <a:lvl9pPr>
              <a:defRPr sz="2775" b="1">
                <a:solidFill>
                  <a:srgbClr val="89D9DB"/>
                </a:solidFill>
                <a:latin typeface="Arial"/>
                <a:ea typeface="Arial"/>
                <a:cs typeface="Arial"/>
              </a:defRPr>
            </a:lvl9pPr>
          </a:lstStyle>
          <a:p xmlns:a="http://schemas.openxmlformats.org/drawingml/2006/main">
            <a:pPr>
              <a:defRPr sz="2775" b="1">
                <a:solidFill>
                  <a:srgbClr val="89D9DB"/>
                </a:solidFill>
                <a:latin typeface="Arial"/>
                <a:ea typeface="Arial"/>
                <a:cs typeface="Arial"/>
              </a:defRPr>
            </a:pPr>
            <a:r>
              <a:rPr sz="2775" b="1">
                <a:solidFill>
                  <a:srgbClr val="89D9DB"/>
                </a:solidFill>
                <a:latin typeface="Arial"/>
                <a:ea typeface="Arial"/>
                <a:cs typeface="Arial"/>
              </a:rPr>
              <a:t>Thank you</a:t>
            </a:r>
          </a:p>
        </p:txBody>
      </p:sp>
    </p:spTree>
    <p:extLst>
      <p:ext uri="{BB962C8B-B14F-4D97-AF65-F5344CB8AC3E}">
        <p14:creationId xmlns:p14="http://schemas.microsoft.com/office/powerpoint/2010/main" val="1985841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2026-10-27T05:42:14.9350000Z</dcterms:created>
  <dcterms:modified xsi:type="dcterms:W3CDTF">2026-10-27T05:42:14.9350000Z</dcterms:modified>
</coreProperties>
</file>